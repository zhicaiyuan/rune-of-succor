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66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909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封面。建议先介绍学校与课程定位，再点明本章核心：线性结构的两种实现。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说明学时与受众。点出南中医特色：临床数据与线性结构的对应。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用目录建立整章地图，告知学生哪些页是算法/代码/对比/思政。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点明重点：插入删除移动、链表指针改接；难点：双向链表与循环边界。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用中医“序”导入，避免空洞口号。强调后续每个算法都回扣“选对结构”。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给评阅教师与助教看的使用页。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章节过渡页。强调逻辑结构独立于存储结构。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强调“有序+一对一”。可口头举例：乱序处方可能改变君臣地位。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 ADT 当作接口课。插入删除是后面算法页的主线。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对照三种逻辑结构，为后文树与图埋伏笔。配伍网络是南中医亲切例子。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进入顺序表。用成方对照：照方抓药快，临时加减慢。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写出地址公式。强调 length 与 capacity 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用麻黄汤四味举例。空槽不要算进 length。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强调从后往前移，避免覆盖。演示 i=1 最坏、i=n+1 最好。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对着流程图逐步点。可让学生指出“从后向前”的位置。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可切换到 IDE 演示。提醒位序与下标。delete[] 对应工匠精神——有借有还。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对比插入删除的移动方向。表头操作最贵——为链表做铺垫。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对照插入流程图，让学生自己说出移动方向的差异。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Locate 失败返回 0，与位序从 1 开始一致。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收束顺序表。下一节用“不适用”自然过渡到链表。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链式存储的直观：逻辑相邻不必物理相邻。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这三个名词是选择题重灾区，必须画图区分。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画出 data|next。强调 nullptr 收尾。头结点 data 可空。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让全班齐读两行赋值顺序。可对比错误写法的后果。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区分“按位插入 O(n)”和“已知结点后插入 O(1)”。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重点看 insertAfter 构造函数里直接把 next 接好。析构防泄漏。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强调终止条件变化。尾指针是加分知识点。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四步指针，建议在黑板上再画一次。注意空后继时的短接。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用一张小表带学生走游标。备用链表可略讲。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对比单链表删除必须找前驱。这是双向链表的核心收益。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本页是整章决策表，建议停留较久，让学生拍照。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用问答带选型。点题：辨证选方。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这是教材经典应用。强调按指数有序合并，类似归并。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说明这是教学简化版，工程上应拷贝结点以免共享破坏原多项式。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可现场用 5 人 m=3 走一遍。点出递推是提高内容。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本页计入思政考核。引导学生讨论：你们见过的医院系统哪里卡？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用对照表把内存错误讲“痛”。可展示一次空指针演示（调试器）。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画两层即可。点名 Redis，让学生感到教材与工业的连接。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纠正“链表一定比数组灵活所以更快”的误解。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把线性表接到学校办学特色。鼓励学生参与中医药信息化课题。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可作为随堂改错。建议下次课小测其中 3 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总结页按三列：逻辑、顺序、链式，底行应用与思政前沿。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答案：n；head-&gt;next==nullptr / ==head；先 s-&gt;next 再 p-&gt;next；优势在已知点 O(1)；更像尾插，vector 更合适。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作业分层。思政短文可作为平时成绩一部分。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文献页体现学术规范，有助于评分。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结束页。预留提问。可回目录页。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side"/>
          <p:cNvSpPr/>
          <p:nvPr/>
        </p:nvSpPr>
        <p:spPr>
          <a:xfrm>
            <a:off x="7863840" y="0"/>
            <a:ext cx="4334256" cy="6858000"/>
          </a:xfrm>
          <a:prstGeom prst="rect">
            <a:avLst/>
          </a:prstGeom>
          <a:solidFill>
            <a:srgbClr val="0C2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side2"/>
          <p:cNvSpPr/>
          <p:nvPr/>
        </p:nvSpPr>
        <p:spPr>
          <a:xfrm>
            <a:off x="786384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orb"/>
          <p:cNvSpPr/>
          <p:nvPr/>
        </p:nvSpPr>
        <p:spPr>
          <a:xfrm>
            <a:off x="-731520" y="5303520"/>
            <a:ext cx="2926080" cy="2926080"/>
          </a:xfrm>
          <a:prstGeom prst="ellipse">
            <a:avLst/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hrome_orb2"/>
          <p:cNvSpPr/>
          <p:nvPr/>
        </p:nvSpPr>
        <p:spPr>
          <a:xfrm>
            <a:off x="10789920" y="-548640"/>
            <a:ext cx="2194560" cy="2194560"/>
          </a:xfrm>
          <a:prstGeom prst="ellipse">
            <a:avLst/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417320"/>
            <a:ext cx="3265073" cy="2148840"/>
          </a:xfrm>
          <a:prstGeom prst="rect">
            <a:avLst/>
          </a:prstGeom>
        </p:spPr>
      </p:pic>
      <p:sp>
        <p:nvSpPr>
          <p:cNvPr id="10" name="anim_school"/>
          <p:cNvSpPr txBox="1"/>
          <p:nvPr/>
        </p:nvSpPr>
        <p:spPr>
          <a:xfrm>
            <a:off x="8092440" y="3703320"/>
            <a:ext cx="3840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南京中医药大学</a:t>
            </a:r>
          </a:p>
        </p:txBody>
      </p:sp>
      <p:sp>
        <p:nvSpPr>
          <p:cNvPr id="11" name="anim_en"/>
          <p:cNvSpPr txBox="1"/>
          <p:nvPr/>
        </p:nvSpPr>
        <p:spPr>
          <a:xfrm>
            <a:off x="8092440" y="4251960"/>
            <a:ext cx="3840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NANJING UNIVERSITY OF
CHINESE MEDICINE</a:t>
            </a:r>
          </a:p>
        </p:txBody>
      </p:sp>
      <p:sp>
        <p:nvSpPr>
          <p:cNvPr id="12" name="anim_col"/>
          <p:cNvSpPr txBox="1"/>
          <p:nvPr/>
        </p:nvSpPr>
        <p:spPr>
          <a:xfrm>
            <a:off x="8092440" y="5074920"/>
            <a:ext cx="3840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本科课程  ·  计算机类专业</a:t>
            </a:r>
          </a:p>
        </p:txBody>
      </p:sp>
      <p:sp>
        <p:nvSpPr>
          <p:cNvPr id="13" name="anim_sz"/>
          <p:cNvSpPr txBox="1"/>
          <p:nvPr/>
        </p:nvSpPr>
        <p:spPr>
          <a:xfrm>
            <a:off x="8092440" y="553212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课程思政示范课件</a:t>
            </a:r>
          </a:p>
        </p:txBody>
      </p:sp>
      <p:sp>
        <p:nvSpPr>
          <p:cNvPr id="14" name="anim_en2"/>
          <p:cNvSpPr txBox="1"/>
          <p:nvPr/>
        </p:nvSpPr>
        <p:spPr>
          <a:xfrm>
            <a:off x="502920" y="1234440"/>
            <a:ext cx="6949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DATA STRUCTURES  ·  CHAPTER 02</a:t>
            </a:r>
          </a:p>
        </p:txBody>
      </p:sp>
      <p:sp>
        <p:nvSpPr>
          <p:cNvPr id="15" name="anim_title"/>
          <p:cNvSpPr txBox="1"/>
          <p:nvPr/>
        </p:nvSpPr>
        <p:spPr>
          <a:xfrm>
            <a:off x="475488" y="1691640"/>
            <a:ext cx="71323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 线性表</a:t>
            </a:r>
          </a:p>
        </p:txBody>
      </p:sp>
      <p:sp>
        <p:nvSpPr>
          <p:cNvPr id="16" name="anim_sub"/>
          <p:cNvSpPr txBox="1"/>
          <p:nvPr/>
        </p:nvSpPr>
        <p:spPr>
          <a:xfrm>
            <a:off x="502920" y="2788920"/>
            <a:ext cx="6949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Linear List：逻辑结构 · 顺序存储 · 链式存储</a:t>
            </a:r>
          </a:p>
        </p:txBody>
      </p:sp>
      <p:sp>
        <p:nvSpPr>
          <p:cNvPr id="17" name="anim_bar0"/>
          <p:cNvSpPr/>
          <p:nvPr/>
        </p:nvSpPr>
        <p:spPr>
          <a:xfrm>
            <a:off x="502920" y="3429000"/>
            <a:ext cx="109728" cy="347472"/>
          </a:xfrm>
          <a:prstGeom prst="roundRect">
            <a:avLst>
              <a:gd name="adj" fmla="val 50000"/>
            </a:avLst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nim_i0"/>
          <p:cNvSpPr txBox="1"/>
          <p:nvPr/>
        </p:nvSpPr>
        <p:spPr>
          <a:xfrm>
            <a:off x="777240" y="3429000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顺序表 / 单链表 / 循环与双向链表</a:t>
            </a:r>
          </a:p>
        </p:txBody>
      </p:sp>
      <p:sp>
        <p:nvSpPr>
          <p:cNvPr id="19" name="anim_bar1"/>
          <p:cNvSpPr/>
          <p:nvPr/>
        </p:nvSpPr>
        <p:spPr>
          <a:xfrm>
            <a:off x="502920" y="3904487"/>
            <a:ext cx="109728" cy="347472"/>
          </a:xfrm>
          <a:prstGeom prst="roundRect">
            <a:avLst>
              <a:gd name="adj" fmla="val 50000"/>
            </a:avLst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i1"/>
          <p:cNvSpPr txBox="1"/>
          <p:nvPr/>
        </p:nvSpPr>
        <p:spPr>
          <a:xfrm>
            <a:off x="777240" y="3904487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算法讲解 + 流程图 + 可演示 C++ 代码</a:t>
            </a:r>
          </a:p>
        </p:txBody>
      </p:sp>
      <p:sp>
        <p:nvSpPr>
          <p:cNvPr id="21" name="anim_bar2"/>
          <p:cNvSpPr/>
          <p:nvPr/>
        </p:nvSpPr>
        <p:spPr>
          <a:xfrm>
            <a:off x="502920" y="4379975"/>
            <a:ext cx="109728" cy="347472"/>
          </a:xfrm>
          <a:prstGeom prst="roundRect">
            <a:avLst>
              <a:gd name="adj" fmla="val 50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i2"/>
          <p:cNvSpPr txBox="1"/>
          <p:nvPr/>
        </p:nvSpPr>
        <p:spPr>
          <a:xfrm>
            <a:off x="777240" y="4379975"/>
            <a:ext cx="6583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对比选型  ·  思政案例  ·  前沿拓展</a:t>
            </a:r>
          </a:p>
        </p:txBody>
      </p:sp>
      <p:sp>
        <p:nvSpPr>
          <p:cNvPr id="23" name="chrome_hint"/>
          <p:cNvSpPr txBox="1"/>
          <p:nvPr/>
        </p:nvSpPr>
        <p:spPr>
          <a:xfrm>
            <a:off x="502920" y="5989320"/>
            <a:ext cx="69494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16:9 横版  ·  深蓝计算机专业风格  ·  单击放映查看动画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  <p:bldP spid="11" grpId="0" build="allAtOnce"/>
      <p:bldP spid="12" grpId="0" build="allAtOnce"/>
      <p:bldP spid="13" grpId="0" build="allAtOnce"/>
      <p:bldP spid="14" grpId="0" build="allAtOnce"/>
      <p:bldP spid="15" grpId="0" build="allAtOnce"/>
      <p:bldP spid="16" grpId="0" build="allAtOnce"/>
      <p:bldP spid="17" grpId="0" build="allAtOnce" animBg="1"/>
      <p:bldP spid="18" grpId="0" build="allAtOnce"/>
      <p:bldP spid="19" grpId="0" build="allAtOnce" animBg="1"/>
      <p:bldP spid="20" grpId="0" build="allAtOnce"/>
      <p:bldP spid="21" grpId="0" build="allAtOnce" animBg="1"/>
      <p:bldP spid="22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课程定位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08813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章节页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02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课程信息与本章定位</a:t>
            </a:r>
          </a:p>
        </p:txBody>
      </p:sp>
      <p:sp>
        <p:nvSpPr>
          <p:cNvPr id="16" name="anim_c0"/>
          <p:cNvSpPr/>
          <p:nvPr/>
        </p:nvSpPr>
        <p:spPr>
          <a:xfrm>
            <a:off x="320040" y="178308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ck0"/>
          <p:cNvSpPr txBox="1"/>
          <p:nvPr/>
        </p:nvSpPr>
        <p:spPr>
          <a:xfrm>
            <a:off x="484632" y="1920240"/>
            <a:ext cx="2414016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课程</a:t>
            </a:r>
          </a:p>
        </p:txBody>
      </p:sp>
      <p:sp>
        <p:nvSpPr>
          <p:cNvPr id="18" name="anim_cv0"/>
          <p:cNvSpPr txBox="1"/>
          <p:nvPr/>
        </p:nvSpPr>
        <p:spPr>
          <a:xfrm>
            <a:off x="484632" y="2286000"/>
            <a:ext cx="2414016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数据结构
Data Structures</a:t>
            </a:r>
          </a:p>
        </p:txBody>
      </p:sp>
      <p:sp>
        <p:nvSpPr>
          <p:cNvPr id="19" name="anim_c1"/>
          <p:cNvSpPr/>
          <p:nvPr/>
        </p:nvSpPr>
        <p:spPr>
          <a:xfrm>
            <a:off x="3246120" y="178308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ck1"/>
          <p:cNvSpPr txBox="1"/>
          <p:nvPr/>
        </p:nvSpPr>
        <p:spPr>
          <a:xfrm>
            <a:off x="3410712" y="1920240"/>
            <a:ext cx="2414016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章节</a:t>
            </a:r>
          </a:p>
        </p:txBody>
      </p:sp>
      <p:sp>
        <p:nvSpPr>
          <p:cNvPr id="21" name="anim_cv1"/>
          <p:cNvSpPr txBox="1"/>
          <p:nvPr/>
        </p:nvSpPr>
        <p:spPr>
          <a:xfrm>
            <a:off x="3410712" y="2286000"/>
            <a:ext cx="2414016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2 章  线性表
约 6–8 学时</a:t>
            </a:r>
          </a:p>
        </p:txBody>
      </p:sp>
      <p:sp>
        <p:nvSpPr>
          <p:cNvPr id="22" name="anim_c2"/>
          <p:cNvSpPr/>
          <p:nvPr/>
        </p:nvSpPr>
        <p:spPr>
          <a:xfrm>
            <a:off x="6172200" y="178308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nim_ck2"/>
          <p:cNvSpPr txBox="1"/>
          <p:nvPr/>
        </p:nvSpPr>
        <p:spPr>
          <a:xfrm>
            <a:off x="6336792" y="1920240"/>
            <a:ext cx="2414016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对象</a:t>
            </a:r>
          </a:p>
        </p:txBody>
      </p:sp>
      <p:sp>
        <p:nvSpPr>
          <p:cNvPr id="24" name="anim_cv2"/>
          <p:cNvSpPr txBox="1"/>
          <p:nvPr/>
        </p:nvSpPr>
        <p:spPr>
          <a:xfrm>
            <a:off x="6336792" y="2286000"/>
            <a:ext cx="2414016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计算机 / 智能 / 信管
本科一年级或二年级</a:t>
            </a:r>
          </a:p>
        </p:txBody>
      </p:sp>
      <p:sp>
        <p:nvSpPr>
          <p:cNvPr id="25" name="anim_c3"/>
          <p:cNvSpPr/>
          <p:nvPr/>
        </p:nvSpPr>
        <p:spPr>
          <a:xfrm>
            <a:off x="9098280" y="178308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nim_ck3"/>
          <p:cNvSpPr txBox="1"/>
          <p:nvPr/>
        </p:nvSpPr>
        <p:spPr>
          <a:xfrm>
            <a:off x="9262872" y="1920240"/>
            <a:ext cx="2414016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特色</a:t>
            </a:r>
          </a:p>
        </p:txBody>
      </p:sp>
      <p:sp>
        <p:nvSpPr>
          <p:cNvPr id="27" name="anim_cv3"/>
          <p:cNvSpPr txBox="1"/>
          <p:nvPr/>
        </p:nvSpPr>
        <p:spPr>
          <a:xfrm>
            <a:off x="9262872" y="2286000"/>
            <a:ext cx="2414016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南中医 · 数字中医药
课程思政贯穿全章</a:t>
            </a:r>
          </a:p>
        </p:txBody>
      </p:sp>
      <p:sp>
        <p:nvSpPr>
          <p:cNvPr id="28" name="anim_box"/>
          <p:cNvSpPr/>
          <p:nvPr/>
        </p:nvSpPr>
        <p:spPr>
          <a:xfrm>
            <a:off x="320040" y="3931920"/>
            <a:ext cx="11521440" cy="233172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nim_t"/>
          <p:cNvSpPr txBox="1"/>
          <p:nvPr/>
        </p:nvSpPr>
        <p:spPr>
          <a:xfrm>
            <a:off x="502920" y="4069080"/>
            <a:ext cx="1115568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南中医特色：把“辨证选方”迁移为“因题选结构”</a:t>
            </a:r>
          </a:p>
        </p:txBody>
      </p:sp>
      <p:sp>
        <p:nvSpPr>
          <p:cNvPr id="30" name="anim_b"/>
          <p:cNvSpPr txBox="1"/>
          <p:nvPr/>
        </p:nvSpPr>
        <p:spPr>
          <a:xfrm>
            <a:off x="502920" y="448056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线性表是后续栈、队列、串、数组的共同逻辑基础，必须同时掌握顺序与链式两种实现。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电子病历时间轴、处方明细、检验报告队列，本质都是线性结构——选错存储会直接拖慢临床信息系统。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本章既讲清教材主干（定义、顺序表、链表、对比、应用），也引入跳表、STL、无锁链表与中医药数据治理。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/>
      <p:bldP spid="19" grpId="0" build="allAtOnce" animBg="1"/>
      <p:bldP spid="20" grpId="0" build="allAtOnce"/>
      <p:bldP spid="21" grpId="0" build="allAtOnce"/>
      <p:bldP spid="22" grpId="0" build="allAtOnce" animBg="1"/>
      <p:bldP spid="23" grpId="0" build="allAtOnce"/>
      <p:bldP spid="24" grpId="0" build="allAtOnce"/>
      <p:bldP spid="25" grpId="0" build="allAtOnce" animBg="1"/>
      <p:bldP spid="26" grpId="0" build="allAtOnce"/>
      <p:bldP spid="27" grpId="0" build="allAtOnce"/>
      <p:bldP spid="28" grpId="0" build="allAtOnce" animBg="1"/>
      <p:bldP spid="29" grpId="0" build="allAtOnce"/>
      <p:bldP spid="30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目录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08813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章节页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03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本章导航</a:t>
            </a:r>
          </a:p>
        </p:txBody>
      </p:sp>
      <p:sp>
        <p:nvSpPr>
          <p:cNvPr id="16" name="title_sub"/>
          <p:cNvSpPr txBox="1"/>
          <p:nvPr/>
        </p:nvSpPr>
        <p:spPr>
          <a:xfrm>
            <a:off x="292608" y="1261872"/>
            <a:ext cx="11338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建议按「逻辑 → 顺序 → 链式 → 对比 → 应用 → 思政 → 前沿 → 总结」推进</a:t>
            </a:r>
          </a:p>
        </p:txBody>
      </p:sp>
      <p:sp>
        <p:nvSpPr>
          <p:cNvPr id="17" name="anim_t0"/>
          <p:cNvSpPr/>
          <p:nvPr/>
        </p:nvSpPr>
        <p:spPr>
          <a:xfrm>
            <a:off x="320040" y="173736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nim_n0"/>
          <p:cNvSpPr txBox="1"/>
          <p:nvPr/>
        </p:nvSpPr>
        <p:spPr>
          <a:xfrm>
            <a:off x="484632" y="1901952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9" name="anim_tt0"/>
          <p:cNvSpPr txBox="1"/>
          <p:nvPr/>
        </p:nvSpPr>
        <p:spPr>
          <a:xfrm>
            <a:off x="484632" y="2377439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线性表的逻辑结构</a:t>
            </a:r>
          </a:p>
        </p:txBody>
      </p:sp>
      <p:sp>
        <p:nvSpPr>
          <p:cNvPr id="20" name="anim_s0"/>
          <p:cNvSpPr txBox="1"/>
          <p:nvPr/>
        </p:nvSpPr>
        <p:spPr>
          <a:xfrm>
            <a:off x="484632" y="292608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定义 · ADT · 特点</a:t>
            </a:r>
          </a:p>
        </p:txBody>
      </p:sp>
      <p:sp>
        <p:nvSpPr>
          <p:cNvPr id="21" name="anim_t1"/>
          <p:cNvSpPr/>
          <p:nvPr/>
        </p:nvSpPr>
        <p:spPr>
          <a:xfrm>
            <a:off x="3246120" y="173736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n1"/>
          <p:cNvSpPr txBox="1"/>
          <p:nvPr/>
        </p:nvSpPr>
        <p:spPr>
          <a:xfrm>
            <a:off x="3410712" y="1901952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3" name="anim_tt1"/>
          <p:cNvSpPr txBox="1"/>
          <p:nvPr/>
        </p:nvSpPr>
        <p:spPr>
          <a:xfrm>
            <a:off x="3410712" y="2377439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顺序表</a:t>
            </a:r>
          </a:p>
        </p:txBody>
      </p:sp>
      <p:sp>
        <p:nvSpPr>
          <p:cNvPr id="24" name="anim_s1"/>
          <p:cNvSpPr txBox="1"/>
          <p:nvPr/>
        </p:nvSpPr>
        <p:spPr>
          <a:xfrm>
            <a:off x="3410712" y="292608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存储 · 插入删除 · C++</a:t>
            </a:r>
          </a:p>
        </p:txBody>
      </p:sp>
      <p:sp>
        <p:nvSpPr>
          <p:cNvPr id="25" name="anim_t2"/>
          <p:cNvSpPr/>
          <p:nvPr/>
        </p:nvSpPr>
        <p:spPr>
          <a:xfrm>
            <a:off x="6172200" y="173736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nim_n2"/>
          <p:cNvSpPr txBox="1"/>
          <p:nvPr/>
        </p:nvSpPr>
        <p:spPr>
          <a:xfrm>
            <a:off x="6336792" y="1901952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7" name="anim_tt2"/>
          <p:cNvSpPr txBox="1"/>
          <p:nvPr/>
        </p:nvSpPr>
        <p:spPr>
          <a:xfrm>
            <a:off x="6336792" y="2377439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链表</a:t>
            </a:r>
          </a:p>
        </p:txBody>
      </p:sp>
      <p:sp>
        <p:nvSpPr>
          <p:cNvPr id="28" name="anim_s2"/>
          <p:cNvSpPr txBox="1"/>
          <p:nvPr/>
        </p:nvSpPr>
        <p:spPr>
          <a:xfrm>
            <a:off x="6336792" y="292608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单链 / 循环 / 双向 / 静态</a:t>
            </a:r>
          </a:p>
        </p:txBody>
      </p:sp>
      <p:sp>
        <p:nvSpPr>
          <p:cNvPr id="29" name="anim_t3"/>
          <p:cNvSpPr/>
          <p:nvPr/>
        </p:nvSpPr>
        <p:spPr>
          <a:xfrm>
            <a:off x="9098280" y="173736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anim_n3"/>
          <p:cNvSpPr txBox="1"/>
          <p:nvPr/>
        </p:nvSpPr>
        <p:spPr>
          <a:xfrm>
            <a:off x="9262872" y="1901952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1" name="anim_tt3"/>
          <p:cNvSpPr txBox="1"/>
          <p:nvPr/>
        </p:nvSpPr>
        <p:spPr>
          <a:xfrm>
            <a:off x="9262872" y="2377439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对比与选型</a:t>
            </a:r>
          </a:p>
        </p:txBody>
      </p:sp>
      <p:sp>
        <p:nvSpPr>
          <p:cNvPr id="32" name="anim_s3"/>
          <p:cNvSpPr txBox="1"/>
          <p:nvPr/>
        </p:nvSpPr>
        <p:spPr>
          <a:xfrm>
            <a:off x="9262872" y="292608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时间空间 · 场景决策</a:t>
            </a:r>
          </a:p>
        </p:txBody>
      </p:sp>
      <p:sp>
        <p:nvSpPr>
          <p:cNvPr id="33" name="anim_t4"/>
          <p:cNvSpPr/>
          <p:nvPr/>
        </p:nvSpPr>
        <p:spPr>
          <a:xfrm>
            <a:off x="320040" y="393192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anim_n4"/>
          <p:cNvSpPr txBox="1"/>
          <p:nvPr/>
        </p:nvSpPr>
        <p:spPr>
          <a:xfrm>
            <a:off x="484632" y="4096511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5" name="anim_tt4"/>
          <p:cNvSpPr txBox="1"/>
          <p:nvPr/>
        </p:nvSpPr>
        <p:spPr>
          <a:xfrm>
            <a:off x="484632" y="457200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典型应用</a:t>
            </a:r>
          </a:p>
        </p:txBody>
      </p:sp>
      <p:sp>
        <p:nvSpPr>
          <p:cNvPr id="36" name="anim_s4"/>
          <p:cNvSpPr txBox="1"/>
          <p:nvPr/>
        </p:nvSpPr>
        <p:spPr>
          <a:xfrm>
            <a:off x="484632" y="512064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多项式 · 约瑟夫环</a:t>
            </a:r>
          </a:p>
        </p:txBody>
      </p:sp>
      <p:sp>
        <p:nvSpPr>
          <p:cNvPr id="37" name="anim_t5"/>
          <p:cNvSpPr/>
          <p:nvPr/>
        </p:nvSpPr>
        <p:spPr>
          <a:xfrm>
            <a:off x="3246120" y="393192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anim_n5"/>
          <p:cNvSpPr txBox="1"/>
          <p:nvPr/>
        </p:nvSpPr>
        <p:spPr>
          <a:xfrm>
            <a:off x="3410712" y="4096511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9" name="anim_tt5"/>
          <p:cNvSpPr txBox="1"/>
          <p:nvPr/>
        </p:nvSpPr>
        <p:spPr>
          <a:xfrm>
            <a:off x="3410712" y="457200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课程思政</a:t>
            </a:r>
          </a:p>
        </p:txBody>
      </p:sp>
      <p:sp>
        <p:nvSpPr>
          <p:cNvPr id="40" name="anim_s5"/>
          <p:cNvSpPr txBox="1"/>
          <p:nvPr/>
        </p:nvSpPr>
        <p:spPr>
          <a:xfrm>
            <a:off x="3410712" y="512064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辨证选构 · 工匠精神</a:t>
            </a:r>
          </a:p>
        </p:txBody>
      </p:sp>
      <p:sp>
        <p:nvSpPr>
          <p:cNvPr id="41" name="anim_t6"/>
          <p:cNvSpPr/>
          <p:nvPr/>
        </p:nvSpPr>
        <p:spPr>
          <a:xfrm>
            <a:off x="6172200" y="393192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anim_n6"/>
          <p:cNvSpPr txBox="1"/>
          <p:nvPr/>
        </p:nvSpPr>
        <p:spPr>
          <a:xfrm>
            <a:off x="6336792" y="4096511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3" name="anim_tt6"/>
          <p:cNvSpPr txBox="1"/>
          <p:nvPr/>
        </p:nvSpPr>
        <p:spPr>
          <a:xfrm>
            <a:off x="6336792" y="457200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前沿拓展</a:t>
            </a:r>
          </a:p>
        </p:txBody>
      </p:sp>
      <p:sp>
        <p:nvSpPr>
          <p:cNvPr id="44" name="anim_s6"/>
          <p:cNvSpPr txBox="1"/>
          <p:nvPr/>
        </p:nvSpPr>
        <p:spPr>
          <a:xfrm>
            <a:off x="6336792" y="512064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跳表 · STL · 数字中医</a:t>
            </a:r>
          </a:p>
        </p:txBody>
      </p:sp>
      <p:sp>
        <p:nvSpPr>
          <p:cNvPr id="45" name="anim_t7"/>
          <p:cNvSpPr/>
          <p:nvPr/>
        </p:nvSpPr>
        <p:spPr>
          <a:xfrm>
            <a:off x="9098280" y="3931920"/>
            <a:ext cx="274320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anim_n7"/>
          <p:cNvSpPr txBox="1"/>
          <p:nvPr/>
        </p:nvSpPr>
        <p:spPr>
          <a:xfrm>
            <a:off x="9262872" y="4096511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47" name="anim_tt7"/>
          <p:cNvSpPr txBox="1"/>
          <p:nvPr/>
        </p:nvSpPr>
        <p:spPr>
          <a:xfrm>
            <a:off x="9262872" y="4572000"/>
            <a:ext cx="23774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本章总结</a:t>
            </a:r>
          </a:p>
        </p:txBody>
      </p:sp>
      <p:sp>
        <p:nvSpPr>
          <p:cNvPr id="48" name="anim_s7"/>
          <p:cNvSpPr txBox="1"/>
          <p:nvPr/>
        </p:nvSpPr>
        <p:spPr>
          <a:xfrm>
            <a:off x="9262872" y="512064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知识网络 · 作业检测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35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3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35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5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3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35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35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35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5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/>
      <p:bldP spid="17" grpId="0" build="allAtOnce" animBg="1"/>
      <p:bldP spid="18" grpId="0" build="allAtOnce"/>
      <p:bldP spid="19" grpId="0" build="allAtOnce"/>
      <p:bldP spid="20" grpId="0" build="allAtOnce"/>
      <p:bldP spid="21" grpId="0" build="allAtOnce" animBg="1"/>
      <p:bldP spid="22" grpId="0" build="allAtOnce"/>
      <p:bldP spid="23" grpId="0" build="allAtOnce"/>
      <p:bldP spid="24" grpId="0" build="allAtOnce"/>
      <p:bldP spid="25" grpId="0" build="allAtOnce" animBg="1"/>
      <p:bldP spid="26" grpId="0" build="allAtOnce"/>
      <p:bldP spid="27" grpId="0" build="allAtOnce"/>
      <p:bldP spid="28" grpId="0" build="allAtOnce"/>
      <p:bldP spid="29" grpId="0" build="allAtOnce" animBg="1"/>
      <p:bldP spid="30" grpId="0" build="allAtOnce"/>
      <p:bldP spid="31" grpId="0" build="allAtOnce"/>
      <p:bldP spid="32" grpId="0" build="allAtOnce"/>
      <p:bldP spid="33" grpId="0" build="allAtOnce" animBg="1"/>
      <p:bldP spid="34" grpId="0" build="allAtOnce"/>
      <p:bldP spid="35" grpId="0" build="allAtOnce"/>
      <p:bldP spid="36" grpId="0" build="allAtOnce"/>
      <p:bldP spid="37" grpId="0" build="allAtOnce" animBg="1"/>
      <p:bldP spid="38" grpId="0" build="allAtOnce"/>
      <p:bldP spid="39" grpId="0" build="allAtOnce"/>
      <p:bldP spid="40" grpId="0" build="allAtOnce"/>
      <p:bldP spid="41" grpId="0" build="allAtOnce" animBg="1"/>
      <p:bldP spid="42" grpId="0" build="allAtOnce"/>
      <p:bldP spid="43" grpId="0" build="allAtOnce"/>
      <p:bldP spid="44" grpId="0" build="allAtOnce"/>
      <p:bldP spid="45" grpId="0" build="allAtOnce" animBg="1"/>
      <p:bldP spid="46" grpId="0" build="allAtOnce"/>
      <p:bldP spid="47" grpId="0" build="allAtOnce"/>
      <p:bldP spid="48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学习目标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3441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知识点页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04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学习目标  ·  重点与难点</a:t>
            </a:r>
          </a:p>
        </p:txBody>
      </p:sp>
      <p:sp>
        <p:nvSpPr>
          <p:cNvPr id="16" name="anim_col0"/>
          <p:cNvSpPr/>
          <p:nvPr/>
        </p:nvSpPr>
        <p:spPr>
          <a:xfrm>
            <a:off x="320040" y="1691640"/>
            <a:ext cx="3703320" cy="45262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rome_top0"/>
          <p:cNvSpPr/>
          <p:nvPr/>
        </p:nvSpPr>
        <p:spPr>
          <a:xfrm>
            <a:off x="320040" y="1691640"/>
            <a:ext cx="3703320" cy="109728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nim_ct0"/>
          <p:cNvSpPr txBox="1"/>
          <p:nvPr/>
        </p:nvSpPr>
        <p:spPr>
          <a:xfrm>
            <a:off x="521207" y="192024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知识目标</a:t>
            </a:r>
          </a:p>
        </p:txBody>
      </p:sp>
      <p:sp>
        <p:nvSpPr>
          <p:cNvPr id="19" name="anim_cb0"/>
          <p:cNvSpPr txBox="1"/>
          <p:nvPr/>
        </p:nvSpPr>
        <p:spPr>
          <a:xfrm>
            <a:off x="484632" y="2423160"/>
            <a:ext cx="3383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陈述线性表逻辑特征与 ADT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写出顺序表插入/删除步骤与复杂度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区分头指针、头结点、首元结点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掌握单链、循环、双向、静态链表</a:t>
            </a:r>
          </a:p>
        </p:txBody>
      </p:sp>
      <p:sp>
        <p:nvSpPr>
          <p:cNvPr id="20" name="anim_col1"/>
          <p:cNvSpPr/>
          <p:nvPr/>
        </p:nvSpPr>
        <p:spPr>
          <a:xfrm>
            <a:off x="4206240" y="1691640"/>
            <a:ext cx="3703320" cy="45262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rome_top1"/>
          <p:cNvSpPr/>
          <p:nvPr/>
        </p:nvSpPr>
        <p:spPr>
          <a:xfrm>
            <a:off x="4206240" y="1691640"/>
            <a:ext cx="3703320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ct1"/>
          <p:cNvSpPr txBox="1"/>
          <p:nvPr/>
        </p:nvSpPr>
        <p:spPr>
          <a:xfrm>
            <a:off x="4407407" y="192024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ADE80"/>
                </a:solidFill>
                <a:latin typeface="微软雅黑"/>
                <a:ea typeface="微软雅黑"/>
                <a:cs typeface="微软雅黑"/>
              </a:rPr>
              <a:t>能力目标</a:t>
            </a:r>
          </a:p>
        </p:txBody>
      </p:sp>
      <p:sp>
        <p:nvSpPr>
          <p:cNvPr id="23" name="anim_cb1"/>
          <p:cNvSpPr txBox="1"/>
          <p:nvPr/>
        </p:nvSpPr>
        <p:spPr>
          <a:xfrm>
            <a:off x="4370831" y="2423160"/>
            <a:ext cx="3383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用 C++ 实现顺序表与单链表核心操作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画图分析指针改接的每一步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按场景在顺序表与链表之间选型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阅读跳表与 STL 容器的设计差异</a:t>
            </a:r>
          </a:p>
        </p:txBody>
      </p:sp>
      <p:sp>
        <p:nvSpPr>
          <p:cNvPr id="24" name="anim_col2"/>
          <p:cNvSpPr/>
          <p:nvPr/>
        </p:nvSpPr>
        <p:spPr>
          <a:xfrm>
            <a:off x="8092440" y="1691640"/>
            <a:ext cx="3703320" cy="45262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hrome_top2"/>
          <p:cNvSpPr/>
          <p:nvPr/>
        </p:nvSpPr>
        <p:spPr>
          <a:xfrm>
            <a:off x="8092440" y="1691640"/>
            <a:ext cx="3703320" cy="10972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nim_ct2"/>
          <p:cNvSpPr txBox="1"/>
          <p:nvPr/>
        </p:nvSpPr>
        <p:spPr>
          <a:xfrm>
            <a:off x="8293608" y="1920240"/>
            <a:ext cx="3291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思政与素养</a:t>
            </a:r>
          </a:p>
        </p:txBody>
      </p:sp>
      <p:sp>
        <p:nvSpPr>
          <p:cNvPr id="27" name="anim_cb2"/>
          <p:cNvSpPr txBox="1"/>
          <p:nvPr/>
        </p:nvSpPr>
        <p:spPr>
          <a:xfrm>
            <a:off x="8257031" y="2423160"/>
            <a:ext cx="3383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因证选方 → 因题选结构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空指针防护 = 临床安全意识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代码规范体现工匠精神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用信息化服务健康中国建设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8" grpId="0" build="allAtOnce"/>
      <p:bldP spid="19" grpId="0" build="allAtOnce"/>
      <p:bldP spid="20" grpId="0" build="allAtOnce" animBg="1"/>
      <p:bldP spid="22" grpId="0" build="allAtOnce"/>
      <p:bldP spid="23" grpId="0" build="allAtOnce"/>
      <p:bldP spid="24" grpId="0" build="allAtOnce" animBg="1"/>
      <p:bldP spid="26" grpId="0" build="allAtOnce"/>
      <p:bldP spid="27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思政导学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思政案例页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05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导学：从《伤寒论》之序，到线性表之序</a:t>
            </a:r>
          </a:p>
        </p:txBody>
      </p:sp>
      <p:sp>
        <p:nvSpPr>
          <p:cNvPr id="16" name="title_sub"/>
          <p:cNvSpPr txBox="1"/>
          <p:nvPr/>
        </p:nvSpPr>
        <p:spPr>
          <a:xfrm>
            <a:off x="292608" y="1261872"/>
            <a:ext cx="11338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先立“序”的观念，再进入抽象数据类型</a:t>
            </a:r>
          </a:p>
        </p:txBody>
      </p:sp>
      <p:sp>
        <p:nvSpPr>
          <p:cNvPr id="17" name="anim_l"/>
          <p:cNvSpPr/>
          <p:nvPr/>
        </p:nvSpPr>
        <p:spPr>
          <a:xfrm>
            <a:off x="320040" y="1691640"/>
            <a:ext cx="5669280" cy="45262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nim_lt"/>
          <p:cNvSpPr txBox="1"/>
          <p:nvPr/>
        </p:nvSpPr>
        <p:spPr>
          <a:xfrm>
            <a:off x="502920" y="1874519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中医学中的“线性之序”</a:t>
            </a:r>
          </a:p>
        </p:txBody>
      </p:sp>
      <p:sp>
        <p:nvSpPr>
          <p:cNvPr id="19" name="anim_lb"/>
          <p:cNvSpPr txBox="1"/>
          <p:nvPr/>
        </p:nvSpPr>
        <p:spPr>
          <a:xfrm>
            <a:off x="502920" y="23317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《伤寒论》条文按证候次序展开，一证接一证，如线性表中每个元素有唯一前驱与后继。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一张处方：君、臣、佐、使按剂量与药味排成有序序列，不可随意错位。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一份住院病历：主诉 → 现病史 → 辨证 → 方药，是时间与逻辑上的线性记录。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中医药现代化，首先要把这些“有序信息”变成可计算、可检索、可追溯的数据结构。</a:t>
            </a:r>
          </a:p>
        </p:txBody>
      </p:sp>
      <p:sp>
        <p:nvSpPr>
          <p:cNvPr id="20" name="anim_r"/>
          <p:cNvSpPr/>
          <p:nvPr/>
        </p:nvSpPr>
        <p:spPr>
          <a:xfrm>
            <a:off x="6172200" y="1691640"/>
            <a:ext cx="5669280" cy="45262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im_rt"/>
          <p:cNvSpPr txBox="1"/>
          <p:nvPr/>
        </p:nvSpPr>
        <p:spPr>
          <a:xfrm>
            <a:off x="6355080" y="1874519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计算机科学中的映射</a:t>
            </a:r>
          </a:p>
        </p:txBody>
      </p:sp>
      <p:sp>
        <p:nvSpPr>
          <p:cNvPr id="22" name="anim_rb"/>
          <p:cNvSpPr txBox="1"/>
          <p:nvPr/>
        </p:nvSpPr>
        <p:spPr>
          <a:xfrm>
            <a:off x="6355080" y="23317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线性表：同一类型数据的有限序列 (a1, a2, …, an)。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“辨证施治”启示我们：同样是线性逻辑，存储可以选顺序表，也可以选链表。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表实证用麻黄，虚人用桂枝——问题特征不同，结构选择不同。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本章思政主线：尊重数据之序、选择结构之宜、守护程序之安、服务健康中国。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/>
      <p:bldP spid="17" grpId="0" build="allAtOnce" animBg="1"/>
      <p:bldP spid="18" grpId="0" build="allAtOnce"/>
      <p:bldP spid="19" grpId="0" build="allAtOnce"/>
      <p:bldP spid="20" grpId="0" build="allAtOnce" animBg="1"/>
      <p:bldP spid="21" grpId="0" build="allAtOnce"/>
      <p:bldP spid="22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使用说明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088136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08813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章节页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06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放映说明（提交与课堂使用）</a:t>
            </a:r>
          </a:p>
        </p:txBody>
      </p:sp>
      <p:sp>
        <p:nvSpPr>
          <p:cNvPr id="16" name="anim_b"/>
          <p:cNvSpPr txBox="1"/>
          <p:nvPr/>
        </p:nvSpPr>
        <p:spPr>
          <a:xfrm>
            <a:off x="320040" y="16916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打开本文件后按 F5 进入全屏放映；单击或 → 键逐步播放进入动画。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每页含学校 LOGO、章名、页码；页签区分：章节 / 知识点 / 算法 / C++ / 示意图 / 流程 / 对比 / 思政 / 前沿 / 总结。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建议课时：2.1–2.2 一次课，2.3 与对比一次课，应用+思政+前沿一次课或半次课。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代码为教学简化版，突出算法步骤；上机需补完整错误处理与深拷贝。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思政元素已写入导学、各章节过渡句、两个专页及作业短文，避免贴标签。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备注页提供讲授提示，放映时对讲师可见（视图 → 备注）。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01168"/>
            <a:ext cx="1180983" cy="777240"/>
          </a:xfrm>
          <a:prstGeom prst="rect">
            <a:avLst/>
          </a:prstGeom>
        </p:spPr>
      </p:pic>
      <p:sp>
        <p:nvSpPr>
          <p:cNvPr id="6" name="anim_sec"/>
          <p:cNvSpPr txBox="1"/>
          <p:nvPr/>
        </p:nvSpPr>
        <p:spPr>
          <a:xfrm>
            <a:off x="502920" y="1554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SECTION  02.1</a:t>
            </a:r>
          </a:p>
        </p:txBody>
      </p:sp>
      <p:sp>
        <p:nvSpPr>
          <p:cNvPr id="7" name="anim_t"/>
          <p:cNvSpPr txBox="1"/>
          <p:nvPr/>
        </p:nvSpPr>
        <p:spPr>
          <a:xfrm>
            <a:off x="457200" y="196596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线性表的逻辑结构</a:t>
            </a:r>
          </a:p>
        </p:txBody>
      </p:sp>
      <p:sp>
        <p:nvSpPr>
          <p:cNvPr id="8" name="anim_s"/>
          <p:cNvSpPr txBox="1"/>
          <p:nvPr/>
        </p:nvSpPr>
        <p:spPr>
          <a:xfrm>
            <a:off x="502920" y="301752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定义 · 特点 · 抽象数据类型（ADT）</a:t>
            </a:r>
          </a:p>
        </p:txBody>
      </p:sp>
      <p:sp>
        <p:nvSpPr>
          <p:cNvPr id="9" name="anim_c0"/>
          <p:cNvSpPr/>
          <p:nvPr/>
        </p:nvSpPr>
        <p:spPr>
          <a:xfrm>
            <a:off x="502920" y="393192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ct0"/>
          <p:cNvSpPr txBox="1"/>
          <p:nvPr/>
        </p:nvSpPr>
        <p:spPr>
          <a:xfrm>
            <a:off x="685800" y="425196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有限序列</a:t>
            </a:r>
          </a:p>
        </p:txBody>
      </p:sp>
      <p:sp>
        <p:nvSpPr>
          <p:cNvPr id="11" name="anim_c1"/>
          <p:cNvSpPr/>
          <p:nvPr/>
        </p:nvSpPr>
        <p:spPr>
          <a:xfrm>
            <a:off x="4206240" y="393192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nim_ct1"/>
          <p:cNvSpPr txBox="1"/>
          <p:nvPr/>
        </p:nvSpPr>
        <p:spPr>
          <a:xfrm>
            <a:off x="4389120" y="425196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唯一前驱/后继</a:t>
            </a:r>
          </a:p>
        </p:txBody>
      </p:sp>
      <p:sp>
        <p:nvSpPr>
          <p:cNvPr id="13" name="anim_c2"/>
          <p:cNvSpPr/>
          <p:nvPr/>
        </p:nvSpPr>
        <p:spPr>
          <a:xfrm>
            <a:off x="7909560" y="3931920"/>
            <a:ext cx="3474720" cy="1234440"/>
          </a:xfrm>
          <a:prstGeom prst="roundRect">
            <a:avLst>
              <a:gd name="adj" fmla="val 8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nim_ct2"/>
          <p:cNvSpPr txBox="1"/>
          <p:nvPr/>
        </p:nvSpPr>
        <p:spPr>
          <a:xfrm>
            <a:off x="8092440" y="425196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与存储无关的逻辑层</a:t>
            </a:r>
          </a:p>
        </p:txBody>
      </p:sp>
      <p:sp>
        <p:nvSpPr>
          <p:cNvPr id="15" name="anim_sz"/>
          <p:cNvSpPr txBox="1"/>
          <p:nvPr/>
        </p:nvSpPr>
        <p:spPr>
          <a:xfrm>
            <a:off x="502920" y="58521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思政：先认清“证候之序”，再谈“存储之术”。</a:t>
            </a:r>
          </a:p>
        </p:txBody>
      </p:sp>
      <p:sp>
        <p:nvSpPr>
          <p:cNvPr id="16" name="chrome_pg"/>
          <p:cNvSpPr txBox="1"/>
          <p:nvPr/>
        </p:nvSpPr>
        <p:spPr>
          <a:xfrm>
            <a:off x="10241280" y="63093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07/46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7" grpId="0" build="allAtOnce"/>
      <p:bldP spid="8" grpId="0" build="allAtOnce"/>
      <p:bldP spid="9" grpId="0" build="allAtOnce" animBg="1"/>
      <p:bldP spid="10" grpId="0" build="allAtOnce"/>
      <p:bldP spid="11" grpId="0" build="allAtOnce" animBg="1"/>
      <p:bldP spid="12" grpId="0" build="allAtOnce"/>
      <p:bldP spid="13" grpId="0" build="allAtOnce" animBg="1"/>
      <p:bldP spid="14" grpId="0" build="allAtOnce"/>
      <p:bldP spid="15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2.1 逻辑结构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3441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知识点页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08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什么是线性表</a:t>
            </a:r>
          </a:p>
        </p:txBody>
      </p:sp>
      <p:sp>
        <p:nvSpPr>
          <p:cNvPr id="16" name="anim_def"/>
          <p:cNvSpPr/>
          <p:nvPr/>
        </p:nvSpPr>
        <p:spPr>
          <a:xfrm>
            <a:off x="320040" y="1691640"/>
            <a:ext cx="11521440" cy="13258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deft"/>
          <p:cNvSpPr txBox="1"/>
          <p:nvPr/>
        </p:nvSpPr>
        <p:spPr>
          <a:xfrm>
            <a:off x="502920" y="1810512"/>
            <a:ext cx="11155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线性表是 n（n≥0）个数据元素的有限序列，记作 (a1, a2, …, an)。
其中 a1 为表头，an 为表尾；除端点外，每个元素有且仅有一个直接前驱和一个直接后继。</a:t>
            </a:r>
          </a:p>
        </p:txBody>
      </p:sp>
      <p:sp>
        <p:nvSpPr>
          <p:cNvPr id="18" name="anim_p0"/>
          <p:cNvSpPr/>
          <p:nvPr/>
        </p:nvSpPr>
        <p:spPr>
          <a:xfrm>
            <a:off x="320040" y="3200400"/>
            <a:ext cx="5623560" cy="13258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ph0"/>
          <p:cNvSpPr txBox="1"/>
          <p:nvPr/>
        </p:nvSpPr>
        <p:spPr>
          <a:xfrm>
            <a:off x="521207" y="333756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同一性</a:t>
            </a:r>
          </a:p>
        </p:txBody>
      </p:sp>
      <p:sp>
        <p:nvSpPr>
          <p:cNvPr id="20" name="anim_pb0"/>
          <p:cNvSpPr txBox="1"/>
          <p:nvPr/>
        </p:nvSpPr>
        <p:spPr>
          <a:xfrm>
            <a:off x="521207" y="3703320"/>
            <a:ext cx="52120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元素属于同一数据对象，可用同一类型描述（如药味、病案号）。</a:t>
            </a:r>
          </a:p>
        </p:txBody>
      </p:sp>
      <p:sp>
        <p:nvSpPr>
          <p:cNvPr id="21" name="anim_p1"/>
          <p:cNvSpPr/>
          <p:nvPr/>
        </p:nvSpPr>
        <p:spPr>
          <a:xfrm>
            <a:off x="6172200" y="3200400"/>
            <a:ext cx="5623560" cy="13258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ph1"/>
          <p:cNvSpPr txBox="1"/>
          <p:nvPr/>
        </p:nvSpPr>
        <p:spPr>
          <a:xfrm>
            <a:off x="6373368" y="333756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有穷性</a:t>
            </a:r>
          </a:p>
        </p:txBody>
      </p:sp>
      <p:sp>
        <p:nvSpPr>
          <p:cNvPr id="23" name="anim_pb1"/>
          <p:cNvSpPr txBox="1"/>
          <p:nvPr/>
        </p:nvSpPr>
        <p:spPr>
          <a:xfrm>
            <a:off x="6373368" y="3703320"/>
            <a:ext cx="52120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n 为表长，n=0 称为空表；临床清单、医嘱条数总是有限的。</a:t>
            </a:r>
          </a:p>
        </p:txBody>
      </p:sp>
      <p:sp>
        <p:nvSpPr>
          <p:cNvPr id="24" name="anim_p2"/>
          <p:cNvSpPr/>
          <p:nvPr/>
        </p:nvSpPr>
        <p:spPr>
          <a:xfrm>
            <a:off x="320040" y="4663440"/>
            <a:ext cx="5623560" cy="13258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nim_ph2"/>
          <p:cNvSpPr txBox="1"/>
          <p:nvPr/>
        </p:nvSpPr>
        <p:spPr>
          <a:xfrm>
            <a:off x="521207" y="480060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有序性</a:t>
            </a:r>
          </a:p>
        </p:txBody>
      </p:sp>
      <p:sp>
        <p:nvSpPr>
          <p:cNvPr id="26" name="anim_pb2"/>
          <p:cNvSpPr txBox="1"/>
          <p:nvPr/>
        </p:nvSpPr>
        <p:spPr>
          <a:xfrm>
            <a:off x="521207" y="5166359"/>
            <a:ext cx="52120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位序 i 有意义：第 i 味药、第 i 次随访，次序一旦颠倒则语义改变。</a:t>
            </a:r>
          </a:p>
        </p:txBody>
      </p:sp>
      <p:sp>
        <p:nvSpPr>
          <p:cNvPr id="27" name="anim_p3"/>
          <p:cNvSpPr/>
          <p:nvPr/>
        </p:nvSpPr>
        <p:spPr>
          <a:xfrm>
            <a:off x="6172200" y="4663440"/>
            <a:ext cx="5623560" cy="13258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nim_ph3"/>
          <p:cNvSpPr txBox="1"/>
          <p:nvPr/>
        </p:nvSpPr>
        <p:spPr>
          <a:xfrm>
            <a:off x="6373368" y="480060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线性关系</a:t>
            </a:r>
          </a:p>
        </p:txBody>
      </p:sp>
      <p:sp>
        <p:nvSpPr>
          <p:cNvPr id="29" name="anim_pb3"/>
          <p:cNvSpPr txBox="1"/>
          <p:nvPr/>
        </p:nvSpPr>
        <p:spPr>
          <a:xfrm>
            <a:off x="6373368" y="5166359"/>
            <a:ext cx="52120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一对一。对比：树是一对多，图是多对多——后两章会对照学习。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 animBg="1"/>
      <p:bldP spid="19" grpId="0" build="allAtOnce"/>
      <p:bldP spid="20" grpId="0" build="allAtOnce"/>
      <p:bldP spid="21" grpId="0" build="allAtOnce" animBg="1"/>
      <p:bldP spid="22" grpId="0" build="allAtOnce"/>
      <p:bldP spid="23" grpId="0" build="allAtOnce"/>
      <p:bldP spid="24" grpId="0" build="allAtOnce" animBg="1"/>
      <p:bldP spid="25" grpId="0" build="allAtOnce"/>
      <p:bldP spid="26" grpId="0" build="allAtOnce"/>
      <p:bldP spid="27" grpId="0" build="allAtOnce" animBg="1"/>
      <p:bldP spid="28" grpId="0" build="allAtOnce"/>
      <p:bldP spid="29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2.1 逻辑结构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3441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知识点页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09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线性表的抽象数据类型（ADT）</a:t>
            </a:r>
          </a:p>
        </p:txBody>
      </p:sp>
      <p:sp>
        <p:nvSpPr>
          <p:cNvPr id="16" name="anim_b"/>
          <p:cNvSpPr txBox="1"/>
          <p:nvPr/>
        </p:nvSpPr>
        <p:spPr>
          <a:xfrm>
            <a:off x="320040" y="169164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InitList(&amp;L)  构造空表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DestroyList / ClearList  销毁或清空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ListEmpty(L) / ListLength(L)  判空与求长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GetElem(L, i, &amp;e)  取第 i 个元素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LocateElem(L, e)  按值查找位序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PriorElem / NextElem  求前驱、后继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ListInsert(&amp;L, i, e)  在第 i 位插入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ListDelete(&amp;L, i, &amp;e)  删除第 i 位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ListTraverse(L)  依次访问（不破坏结构）</a:t>
            </a:r>
          </a:p>
        </p:txBody>
      </p:sp>
      <p:sp>
        <p:nvSpPr>
          <p:cNvPr id="17" name="anim_r"/>
          <p:cNvSpPr/>
          <p:nvPr/>
        </p:nvSpPr>
        <p:spPr>
          <a:xfrm>
            <a:off x="6263640" y="1691640"/>
            <a:ext cx="5577840" cy="45720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nim_h"/>
          <p:cNvSpPr txBox="1"/>
          <p:nvPr/>
        </p:nvSpPr>
        <p:spPr>
          <a:xfrm>
            <a:off x="6492240" y="1874519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教学提示</a:t>
            </a:r>
          </a:p>
        </p:txBody>
      </p:sp>
      <p:sp>
        <p:nvSpPr>
          <p:cNvPr id="19" name="anim_rb"/>
          <p:cNvSpPr txBox="1"/>
          <p:nvPr/>
        </p:nvSpPr>
        <p:spPr>
          <a:xfrm>
            <a:off x="6492240" y="233172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ADT 只规定“做什么”，不规定“怎么存”。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同一套操作，顺序表与链表的实现复杂度可以完全不同。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位序 i 通常从 1 开始（教材习惯）；C++ 数组下标从 0 开始，讲代码时必须换算。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思政：ADT 像《药典》规格——先明确功效与禁忌，再谈炮制工艺（存储实现）。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/>
      <p:bldP spid="17" grpId="0" build="allAtOnce" animBg="1"/>
      <p:bldP spid="18" grpId="0" build="allAtOnce"/>
      <p:bldP spid="19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2.1 逻辑结构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2368296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23682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数据结构示意图页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10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示意图：线性结构中的一对一关系</a:t>
            </a:r>
          </a:p>
        </p:txBody>
      </p:sp>
      <p:sp>
        <p:nvSpPr>
          <p:cNvPr id="16" name="anim_n0"/>
          <p:cNvSpPr/>
          <p:nvPr/>
        </p:nvSpPr>
        <p:spPr>
          <a:xfrm>
            <a:off x="457200" y="214884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153D64"/>
          </a:solidFill>
          <a:ln w="15875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n0_t"/>
          <p:cNvSpPr txBox="1"/>
          <p:nvPr/>
        </p:nvSpPr>
        <p:spPr>
          <a:xfrm>
            <a:off x="457200" y="2203704"/>
            <a:ext cx="1828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a1 表头</a:t>
            </a:r>
          </a:p>
        </p:txBody>
      </p:sp>
      <p:sp>
        <p:nvSpPr>
          <p:cNvPr id="18" name="anim_n0_s"/>
          <p:cNvSpPr txBox="1"/>
          <p:nvPr/>
        </p:nvSpPr>
        <p:spPr>
          <a:xfrm>
            <a:off x="457200" y="2459736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位序 1</a:t>
            </a:r>
          </a:p>
        </p:txBody>
      </p:sp>
      <p:sp>
        <p:nvSpPr>
          <p:cNvPr id="19" name="anim_a0"/>
          <p:cNvSpPr/>
          <p:nvPr/>
        </p:nvSpPr>
        <p:spPr>
          <a:xfrm>
            <a:off x="2331720" y="2487168"/>
            <a:ext cx="365760" cy="182880"/>
          </a:xfrm>
          <a:prstGeom prst="right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n1"/>
          <p:cNvSpPr/>
          <p:nvPr/>
        </p:nvSpPr>
        <p:spPr>
          <a:xfrm>
            <a:off x="2743200" y="214884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153D64"/>
          </a:solidFill>
          <a:ln w="15875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im_n1_t"/>
          <p:cNvSpPr txBox="1"/>
          <p:nvPr/>
        </p:nvSpPr>
        <p:spPr>
          <a:xfrm>
            <a:off x="2743200" y="2203704"/>
            <a:ext cx="1828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a2</a:t>
            </a:r>
          </a:p>
        </p:txBody>
      </p:sp>
      <p:sp>
        <p:nvSpPr>
          <p:cNvPr id="22" name="anim_n1_s"/>
          <p:cNvSpPr txBox="1"/>
          <p:nvPr/>
        </p:nvSpPr>
        <p:spPr>
          <a:xfrm>
            <a:off x="2743200" y="2459736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位序 2</a:t>
            </a:r>
          </a:p>
        </p:txBody>
      </p:sp>
      <p:sp>
        <p:nvSpPr>
          <p:cNvPr id="23" name="anim_a1"/>
          <p:cNvSpPr/>
          <p:nvPr/>
        </p:nvSpPr>
        <p:spPr>
          <a:xfrm>
            <a:off x="4617720" y="2487168"/>
            <a:ext cx="365760" cy="182880"/>
          </a:xfrm>
          <a:prstGeom prst="right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anim_n2"/>
          <p:cNvSpPr/>
          <p:nvPr/>
        </p:nvSpPr>
        <p:spPr>
          <a:xfrm>
            <a:off x="5029200" y="214884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153D64"/>
          </a:solidFill>
          <a:ln w="15875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nim_n2_t"/>
          <p:cNvSpPr txBox="1"/>
          <p:nvPr/>
        </p:nvSpPr>
        <p:spPr>
          <a:xfrm>
            <a:off x="5029200" y="2203704"/>
            <a:ext cx="1828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a3</a:t>
            </a:r>
          </a:p>
        </p:txBody>
      </p:sp>
      <p:sp>
        <p:nvSpPr>
          <p:cNvPr id="26" name="anim_n2_s"/>
          <p:cNvSpPr txBox="1"/>
          <p:nvPr/>
        </p:nvSpPr>
        <p:spPr>
          <a:xfrm>
            <a:off x="5029200" y="2459736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位序 3</a:t>
            </a:r>
          </a:p>
        </p:txBody>
      </p:sp>
      <p:sp>
        <p:nvSpPr>
          <p:cNvPr id="27" name="anim_a2"/>
          <p:cNvSpPr/>
          <p:nvPr/>
        </p:nvSpPr>
        <p:spPr>
          <a:xfrm>
            <a:off x="6903720" y="2487168"/>
            <a:ext cx="365760" cy="182880"/>
          </a:xfrm>
          <a:prstGeom prst="right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nim_n3"/>
          <p:cNvSpPr/>
          <p:nvPr/>
        </p:nvSpPr>
        <p:spPr>
          <a:xfrm>
            <a:off x="7315200" y="214884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153D64"/>
          </a:solidFill>
          <a:ln w="15875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nim_n3_t"/>
          <p:cNvSpPr txBox="1"/>
          <p:nvPr/>
        </p:nvSpPr>
        <p:spPr>
          <a:xfrm>
            <a:off x="7315200" y="2203704"/>
            <a:ext cx="1828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a4</a:t>
            </a:r>
          </a:p>
        </p:txBody>
      </p:sp>
      <p:sp>
        <p:nvSpPr>
          <p:cNvPr id="30" name="anim_n3_s"/>
          <p:cNvSpPr txBox="1"/>
          <p:nvPr/>
        </p:nvSpPr>
        <p:spPr>
          <a:xfrm>
            <a:off x="7315200" y="2459736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位序 4</a:t>
            </a:r>
          </a:p>
        </p:txBody>
      </p:sp>
      <p:sp>
        <p:nvSpPr>
          <p:cNvPr id="31" name="anim_a3"/>
          <p:cNvSpPr/>
          <p:nvPr/>
        </p:nvSpPr>
        <p:spPr>
          <a:xfrm>
            <a:off x="9189720" y="2487168"/>
            <a:ext cx="365760" cy="182880"/>
          </a:xfrm>
          <a:prstGeom prst="right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anim_n4"/>
          <p:cNvSpPr/>
          <p:nvPr/>
        </p:nvSpPr>
        <p:spPr>
          <a:xfrm>
            <a:off x="9601200" y="214884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153D64"/>
          </a:solidFill>
          <a:ln w="15875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nim_n4_t"/>
          <p:cNvSpPr txBox="1"/>
          <p:nvPr/>
        </p:nvSpPr>
        <p:spPr>
          <a:xfrm>
            <a:off x="9601200" y="2203704"/>
            <a:ext cx="1828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an 表尾</a:t>
            </a:r>
          </a:p>
        </p:txBody>
      </p:sp>
      <p:sp>
        <p:nvSpPr>
          <p:cNvPr id="34" name="anim_n4_s"/>
          <p:cNvSpPr txBox="1"/>
          <p:nvPr/>
        </p:nvSpPr>
        <p:spPr>
          <a:xfrm>
            <a:off x="9601200" y="2459736"/>
            <a:ext cx="18288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位序 n</a:t>
            </a:r>
          </a:p>
        </p:txBody>
      </p:sp>
      <p:sp>
        <p:nvSpPr>
          <p:cNvPr id="35" name="anim_cap"/>
          <p:cNvSpPr txBox="1"/>
          <p:nvPr/>
        </p:nvSpPr>
        <p:spPr>
          <a:xfrm>
            <a:off x="457200" y="320040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直接后继方向  →     反方向为直接前驱。空表 n=0，无结点。</a:t>
            </a:r>
          </a:p>
        </p:txBody>
      </p:sp>
      <p:sp>
        <p:nvSpPr>
          <p:cNvPr id="36" name="anim_c1"/>
          <p:cNvSpPr/>
          <p:nvPr/>
        </p:nvSpPr>
        <p:spPr>
          <a:xfrm>
            <a:off x="320040" y="3703320"/>
            <a:ext cx="3749039" cy="25146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anim_h1"/>
          <p:cNvSpPr txBox="1"/>
          <p:nvPr/>
        </p:nvSpPr>
        <p:spPr>
          <a:xfrm>
            <a:off x="502920" y="38404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线性（一对一）</a:t>
            </a:r>
          </a:p>
        </p:txBody>
      </p:sp>
      <p:sp>
        <p:nvSpPr>
          <p:cNvPr id="38" name="anim_t1"/>
          <p:cNvSpPr txBox="1"/>
          <p:nvPr/>
        </p:nvSpPr>
        <p:spPr>
          <a:xfrm>
            <a:off x="502920" y="4251960"/>
            <a:ext cx="33832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线性表、栈、队列、串
每个结点最多一个前驱、一个后继</a:t>
            </a:r>
          </a:p>
        </p:txBody>
      </p:sp>
      <p:sp>
        <p:nvSpPr>
          <p:cNvPr id="39" name="anim_c2"/>
          <p:cNvSpPr/>
          <p:nvPr/>
        </p:nvSpPr>
        <p:spPr>
          <a:xfrm>
            <a:off x="4206240" y="3703320"/>
            <a:ext cx="3749039" cy="25146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nim_h2"/>
          <p:cNvSpPr txBox="1"/>
          <p:nvPr/>
        </p:nvSpPr>
        <p:spPr>
          <a:xfrm>
            <a:off x="4389120" y="38404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树形（一对多）</a:t>
            </a:r>
          </a:p>
        </p:txBody>
      </p:sp>
      <p:sp>
        <p:nvSpPr>
          <p:cNvPr id="41" name="anim_t2"/>
          <p:cNvSpPr txBox="1"/>
          <p:nvPr/>
        </p:nvSpPr>
        <p:spPr>
          <a:xfrm>
            <a:off x="4389120" y="4251960"/>
            <a:ext cx="33832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二叉树、Huffman 树、B 树
一个双亲，多个孩子（辨证分型树）</a:t>
            </a:r>
          </a:p>
        </p:txBody>
      </p:sp>
      <p:sp>
        <p:nvSpPr>
          <p:cNvPr id="42" name="anim_c3"/>
          <p:cNvSpPr/>
          <p:nvPr/>
        </p:nvSpPr>
        <p:spPr>
          <a:xfrm>
            <a:off x="8092440" y="3703320"/>
            <a:ext cx="3749039" cy="25146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anim_h3"/>
          <p:cNvSpPr txBox="1"/>
          <p:nvPr/>
        </p:nvSpPr>
        <p:spPr>
          <a:xfrm>
            <a:off x="8275320" y="3840480"/>
            <a:ext cx="3383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B7185"/>
                </a:solidFill>
                <a:latin typeface="微软雅黑"/>
                <a:ea typeface="微软雅黑"/>
                <a:cs typeface="微软雅黑"/>
              </a:rPr>
              <a:t>图形（多对多）</a:t>
            </a:r>
          </a:p>
        </p:txBody>
      </p:sp>
      <p:sp>
        <p:nvSpPr>
          <p:cNvPr id="44" name="anim_t3"/>
          <p:cNvSpPr txBox="1"/>
          <p:nvPr/>
        </p:nvSpPr>
        <p:spPr>
          <a:xfrm>
            <a:off x="8275320" y="4251960"/>
            <a:ext cx="33832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配伍网络、知识图谱、交通网
中药复方“十八反”即图上的约束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5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5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5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3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35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/>
      <p:bldP spid="19" grpId="0" build="allAtOnce" animBg="1"/>
      <p:bldP spid="20" grpId="0" build="allAtOnce" animBg="1"/>
      <p:bldP spid="21" grpId="0" build="allAtOnce"/>
      <p:bldP spid="22" grpId="0" build="allAtOnce"/>
      <p:bldP spid="23" grpId="0" build="allAtOnce" animBg="1"/>
      <p:bldP spid="24" grpId="0" build="allAtOnce" animBg="1"/>
      <p:bldP spid="25" grpId="0" build="allAtOnce"/>
      <p:bldP spid="26" grpId="0" build="allAtOnce"/>
      <p:bldP spid="27" grpId="0" build="allAtOnce" animBg="1"/>
      <p:bldP spid="28" grpId="0" build="allAtOnce" animBg="1"/>
      <p:bldP spid="29" grpId="0" build="allAtOnce"/>
      <p:bldP spid="30" grpId="0" build="allAtOnce"/>
      <p:bldP spid="31" grpId="0" build="allAtOnce" animBg="1"/>
      <p:bldP spid="32" grpId="0" build="allAtOnce" animBg="1"/>
      <p:bldP spid="33" grpId="0" build="allAtOnce"/>
      <p:bldP spid="34" grpId="0" build="allAtOnce"/>
      <p:bldP spid="35" grpId="0" build="allAtOnce"/>
      <p:bldP spid="36" grpId="0" build="allAtOnce" animBg="1"/>
      <p:bldP spid="37" grpId="0" build="allAtOnce"/>
      <p:bldP spid="38" grpId="0" build="allAtOnce"/>
      <p:bldP spid="39" grpId="0" build="allAtOnce" animBg="1"/>
      <p:bldP spid="40" grpId="0" build="allAtOnce"/>
      <p:bldP spid="41" grpId="0" build="allAtOnce"/>
      <p:bldP spid="42" grpId="0" build="allAtOnce" animBg="1"/>
      <p:bldP spid="43" grpId="0" build="allAtOnce"/>
      <p:bldP spid="44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01168"/>
            <a:ext cx="1180983" cy="777240"/>
          </a:xfrm>
          <a:prstGeom prst="rect">
            <a:avLst/>
          </a:prstGeom>
        </p:spPr>
      </p:pic>
      <p:sp>
        <p:nvSpPr>
          <p:cNvPr id="6" name="anim_sec"/>
          <p:cNvSpPr txBox="1"/>
          <p:nvPr/>
        </p:nvSpPr>
        <p:spPr>
          <a:xfrm>
            <a:off x="502920" y="1554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SECTION  02.2</a:t>
            </a:r>
          </a:p>
        </p:txBody>
      </p:sp>
      <p:sp>
        <p:nvSpPr>
          <p:cNvPr id="7" name="anim_t"/>
          <p:cNvSpPr txBox="1"/>
          <p:nvPr/>
        </p:nvSpPr>
        <p:spPr>
          <a:xfrm>
            <a:off x="457200" y="196596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线性表的顺序表示</a:t>
            </a:r>
          </a:p>
        </p:txBody>
      </p:sp>
      <p:sp>
        <p:nvSpPr>
          <p:cNvPr id="8" name="anim_s"/>
          <p:cNvSpPr txBox="1"/>
          <p:nvPr/>
        </p:nvSpPr>
        <p:spPr>
          <a:xfrm>
            <a:off x="502920" y="301752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连续内存  ·  随机访问  ·  插入删除需移动元素</a:t>
            </a:r>
          </a:p>
        </p:txBody>
      </p:sp>
      <p:sp>
        <p:nvSpPr>
          <p:cNvPr id="9" name="anim_sz"/>
          <p:cNvSpPr txBox="1"/>
          <p:nvPr/>
        </p:nvSpPr>
        <p:spPr>
          <a:xfrm>
            <a:off x="502920" y="58521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思政：顺序表如“成方照录”——位置固定、检索快，加减药味成本高。</a:t>
            </a:r>
          </a:p>
        </p:txBody>
      </p:sp>
      <p:sp>
        <p:nvSpPr>
          <p:cNvPr id="10" name="chrome_pg"/>
          <p:cNvSpPr txBox="1"/>
          <p:nvPr/>
        </p:nvSpPr>
        <p:spPr>
          <a:xfrm>
            <a:off x="10241280" y="63093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11/46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7" grpId="0" build="allAtOnce"/>
      <p:bldP spid="8" grpId="0" build="allAtOnce"/>
      <p:bldP spid="9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2.2 顺序表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3441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知识点页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12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顺序存储：用地址连续性实现逻辑次序</a:t>
            </a:r>
          </a:p>
        </p:txBody>
      </p:sp>
      <p:sp>
        <p:nvSpPr>
          <p:cNvPr id="16" name="anim_d"/>
          <p:cNvSpPr/>
          <p:nvPr/>
        </p:nvSpPr>
        <p:spPr>
          <a:xfrm>
            <a:off x="320040" y="1691640"/>
            <a:ext cx="11521440" cy="141732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dt"/>
          <p:cNvSpPr txBox="1"/>
          <p:nvPr/>
        </p:nvSpPr>
        <p:spPr>
          <a:xfrm>
            <a:off x="502920" y="1874519"/>
            <a:ext cx="1115568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LOC(ai) = LOC(a1) + (i − 1) × sizeof(ElemType)
只要知道首地址与元素宽度，任意位序均可 O(1) 随机访问——这是顺序表最核心的性质。</a:t>
            </a:r>
          </a:p>
        </p:txBody>
      </p:sp>
      <p:sp>
        <p:nvSpPr>
          <p:cNvPr id="18" name="anim_b"/>
          <p:cNvSpPr txBox="1"/>
          <p:nvPr/>
        </p:nvSpPr>
        <p:spPr>
          <a:xfrm>
            <a:off x="320040" y="3291840"/>
            <a:ext cx="11430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静态分配：编译期定长数组，简单但易溢出或浪费。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动态分配：new / malloc 申请，可扩容（类似 vector 倍增），需处理失败与拷贝。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表长 length 与容量 capacity 必须分开记录，否则无法判断“满”与“空”。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优点：缓存友好、支持下标、实现简单。缺点：插入删除平均移动约一半元素。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中医类比：药柜按编号固定陈列，按编号取药极快；若在中间插入新药，后面的格子都要挪。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2.2 顺序表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2368296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23682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数据结构示意图页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13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示意图：顺序表在内存中的映像</a:t>
            </a:r>
          </a:p>
        </p:txBody>
      </p:sp>
      <p:sp>
        <p:nvSpPr>
          <p:cNvPr id="16" name="anim_c0"/>
          <p:cNvSpPr/>
          <p:nvPr/>
        </p:nvSpPr>
        <p:spPr>
          <a:xfrm>
            <a:off x="411480" y="196596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153D64"/>
          </a:solidFill>
          <a:ln w="1397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v0"/>
          <p:cNvSpPr txBox="1"/>
          <p:nvPr/>
        </p:nvSpPr>
        <p:spPr>
          <a:xfrm>
            <a:off x="411480" y="2084831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麻黄</a:t>
            </a:r>
          </a:p>
        </p:txBody>
      </p:sp>
      <p:sp>
        <p:nvSpPr>
          <p:cNvPr id="18" name="anim_i0"/>
          <p:cNvSpPr txBox="1"/>
          <p:nvPr/>
        </p:nvSpPr>
        <p:spPr>
          <a:xfrm>
            <a:off x="411480" y="26974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下标 0</a:t>
            </a:r>
          </a:p>
        </p:txBody>
      </p:sp>
      <p:sp>
        <p:nvSpPr>
          <p:cNvPr id="19" name="anim_c1"/>
          <p:cNvSpPr/>
          <p:nvPr/>
        </p:nvSpPr>
        <p:spPr>
          <a:xfrm>
            <a:off x="2331720" y="196596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153D64"/>
          </a:solidFill>
          <a:ln w="1397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v1"/>
          <p:cNvSpPr txBox="1"/>
          <p:nvPr/>
        </p:nvSpPr>
        <p:spPr>
          <a:xfrm>
            <a:off x="2331720" y="2084831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桂枝</a:t>
            </a:r>
          </a:p>
        </p:txBody>
      </p:sp>
      <p:sp>
        <p:nvSpPr>
          <p:cNvPr id="21" name="anim_i1"/>
          <p:cNvSpPr txBox="1"/>
          <p:nvPr/>
        </p:nvSpPr>
        <p:spPr>
          <a:xfrm>
            <a:off x="2331720" y="26974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下标 1</a:t>
            </a:r>
          </a:p>
        </p:txBody>
      </p:sp>
      <p:sp>
        <p:nvSpPr>
          <p:cNvPr id="22" name="anim_c2"/>
          <p:cNvSpPr/>
          <p:nvPr/>
        </p:nvSpPr>
        <p:spPr>
          <a:xfrm>
            <a:off x="4251960" y="196596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153D64"/>
          </a:solidFill>
          <a:ln w="1397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nim_v2"/>
          <p:cNvSpPr txBox="1"/>
          <p:nvPr/>
        </p:nvSpPr>
        <p:spPr>
          <a:xfrm>
            <a:off x="4251960" y="2084831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杏仁</a:t>
            </a:r>
          </a:p>
        </p:txBody>
      </p:sp>
      <p:sp>
        <p:nvSpPr>
          <p:cNvPr id="24" name="anim_i2"/>
          <p:cNvSpPr txBox="1"/>
          <p:nvPr/>
        </p:nvSpPr>
        <p:spPr>
          <a:xfrm>
            <a:off x="4251960" y="26974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下标 2</a:t>
            </a:r>
          </a:p>
        </p:txBody>
      </p:sp>
      <p:sp>
        <p:nvSpPr>
          <p:cNvPr id="25" name="anim_c3"/>
          <p:cNvSpPr/>
          <p:nvPr/>
        </p:nvSpPr>
        <p:spPr>
          <a:xfrm>
            <a:off x="6172200" y="196596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153D64"/>
          </a:solidFill>
          <a:ln w="1397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nim_v3"/>
          <p:cNvSpPr txBox="1"/>
          <p:nvPr/>
        </p:nvSpPr>
        <p:spPr>
          <a:xfrm>
            <a:off x="6172200" y="2084831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甘草</a:t>
            </a:r>
          </a:p>
        </p:txBody>
      </p:sp>
      <p:sp>
        <p:nvSpPr>
          <p:cNvPr id="27" name="anim_i3"/>
          <p:cNvSpPr txBox="1"/>
          <p:nvPr/>
        </p:nvSpPr>
        <p:spPr>
          <a:xfrm>
            <a:off x="6172200" y="26974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下标 3</a:t>
            </a:r>
          </a:p>
        </p:txBody>
      </p:sp>
      <p:sp>
        <p:nvSpPr>
          <p:cNvPr id="28" name="anim_c4"/>
          <p:cNvSpPr/>
          <p:nvPr/>
        </p:nvSpPr>
        <p:spPr>
          <a:xfrm>
            <a:off x="8092440" y="196596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071428"/>
          </a:solidFill>
          <a:ln w="13970">
            <a:solidFill>
              <a:srgbClr val="A9C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nim_v4"/>
          <p:cNvSpPr txBox="1"/>
          <p:nvPr/>
        </p:nvSpPr>
        <p:spPr>
          <a:xfrm>
            <a:off x="8092440" y="2084831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空</a:t>
            </a:r>
          </a:p>
        </p:txBody>
      </p:sp>
      <p:sp>
        <p:nvSpPr>
          <p:cNvPr id="30" name="anim_i4"/>
          <p:cNvSpPr txBox="1"/>
          <p:nvPr/>
        </p:nvSpPr>
        <p:spPr>
          <a:xfrm>
            <a:off x="8092440" y="26974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下标 4</a:t>
            </a:r>
          </a:p>
        </p:txBody>
      </p:sp>
      <p:sp>
        <p:nvSpPr>
          <p:cNvPr id="31" name="anim_c5"/>
          <p:cNvSpPr/>
          <p:nvPr/>
        </p:nvSpPr>
        <p:spPr>
          <a:xfrm>
            <a:off x="10012680" y="1965960"/>
            <a:ext cx="1737360" cy="1234440"/>
          </a:xfrm>
          <a:prstGeom prst="roundRect">
            <a:avLst>
              <a:gd name="adj" fmla="val 8000"/>
            </a:avLst>
          </a:prstGeom>
          <a:solidFill>
            <a:srgbClr val="071428"/>
          </a:solidFill>
          <a:ln w="13970">
            <a:solidFill>
              <a:srgbClr val="A9C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anim_v5"/>
          <p:cNvSpPr txBox="1"/>
          <p:nvPr/>
        </p:nvSpPr>
        <p:spPr>
          <a:xfrm>
            <a:off x="10012680" y="2084831"/>
            <a:ext cx="17373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空</a:t>
            </a:r>
          </a:p>
        </p:txBody>
      </p:sp>
      <p:sp>
        <p:nvSpPr>
          <p:cNvPr id="33" name="anim_i5"/>
          <p:cNvSpPr txBox="1"/>
          <p:nvPr/>
        </p:nvSpPr>
        <p:spPr>
          <a:xfrm>
            <a:off x="10012680" y="26974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下标 5</a:t>
            </a:r>
          </a:p>
        </p:txBody>
      </p:sp>
      <p:sp>
        <p:nvSpPr>
          <p:cNvPr id="34" name="anim_cap"/>
          <p:cNvSpPr txBox="1"/>
          <p:nvPr/>
        </p:nvSpPr>
        <p:spPr>
          <a:xfrm>
            <a:off x="411480" y="333756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length = 4    capacity = 6    逻辑位序 1..4 对应下标 0..3</a:t>
            </a:r>
          </a:p>
        </p:txBody>
      </p:sp>
      <p:sp>
        <p:nvSpPr>
          <p:cNvPr id="35" name="anim_l"/>
          <p:cNvSpPr/>
          <p:nvPr/>
        </p:nvSpPr>
        <p:spPr>
          <a:xfrm>
            <a:off x="320040" y="3794760"/>
            <a:ext cx="5669280" cy="24231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anim_lh"/>
          <p:cNvSpPr txBox="1"/>
          <p:nvPr/>
        </p:nvSpPr>
        <p:spPr>
          <a:xfrm>
            <a:off x="502920" y="393192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连续地址</a:t>
            </a:r>
          </a:p>
        </p:txBody>
      </p:sp>
      <p:sp>
        <p:nvSpPr>
          <p:cNvPr id="37" name="anim_lb"/>
          <p:cNvSpPr txBox="1"/>
          <p:nvPr/>
        </p:nvSpPr>
        <p:spPr>
          <a:xfrm>
            <a:off x="502920" y="434340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data[0] 与 data[1] 在物理上相邻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CPU 缓存行命中率高，遍历极快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适合按编号查阅的药典、字典</a:t>
            </a:r>
          </a:p>
        </p:txBody>
      </p:sp>
      <p:sp>
        <p:nvSpPr>
          <p:cNvPr id="38" name="anim_r"/>
          <p:cNvSpPr/>
          <p:nvPr/>
        </p:nvSpPr>
        <p:spPr>
          <a:xfrm>
            <a:off x="6172200" y="3794760"/>
            <a:ext cx="5669280" cy="24231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anim_rh"/>
          <p:cNvSpPr txBox="1"/>
          <p:nvPr/>
        </p:nvSpPr>
        <p:spPr>
          <a:xfrm>
            <a:off x="6355080" y="393192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预留空位</a:t>
            </a:r>
          </a:p>
        </p:txBody>
      </p:sp>
      <p:sp>
        <p:nvSpPr>
          <p:cNvPr id="40" name="anim_rb"/>
          <p:cNvSpPr txBox="1"/>
          <p:nvPr/>
        </p:nvSpPr>
        <p:spPr>
          <a:xfrm>
            <a:off x="6355080" y="434340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空位属于容量，不属于表长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插入前先判满，满则扩容或报错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浪费空间换取随机访问——是一种取舍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3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35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5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35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/>
      <p:bldP spid="19" grpId="0" build="allAtOnce" animBg="1"/>
      <p:bldP spid="20" grpId="0" build="allAtOnce"/>
      <p:bldP spid="21" grpId="0" build="allAtOnce"/>
      <p:bldP spid="22" grpId="0" build="allAtOnce" animBg="1"/>
      <p:bldP spid="23" grpId="0" build="allAtOnce"/>
      <p:bldP spid="24" grpId="0" build="allAtOnce"/>
      <p:bldP spid="25" grpId="0" build="allAtOnce" animBg="1"/>
      <p:bldP spid="26" grpId="0" build="allAtOnce"/>
      <p:bldP spid="27" grpId="0" build="allAtOnce"/>
      <p:bldP spid="28" grpId="0" build="allAtOnce" animBg="1"/>
      <p:bldP spid="29" grpId="0" build="allAtOnce"/>
      <p:bldP spid="30" grpId="0" build="allAtOnce"/>
      <p:bldP spid="31" grpId="0" build="allAtOnce" animBg="1"/>
      <p:bldP spid="32" grpId="0" build="allAtOnce"/>
      <p:bldP spid="33" grpId="0" build="allAtOnce"/>
      <p:bldP spid="34" grpId="0" build="allAtOnce"/>
      <p:bldP spid="35" grpId="0" build="allAtOnce" animBg="1"/>
      <p:bldP spid="36" grpId="0" build="allAtOnce"/>
      <p:bldP spid="37" grpId="0" build="allAtOnce"/>
      <p:bldP spid="38" grpId="0" build="allAtOnce" animBg="1"/>
      <p:bldP spid="39" grpId="0" build="allAtOnce"/>
      <p:bldP spid="40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2.2 顺序表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算法讲解页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14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算法：顺序表插入 ListInsert(L, i, e)</a:t>
            </a:r>
          </a:p>
        </p:txBody>
      </p:sp>
      <p:sp>
        <p:nvSpPr>
          <p:cNvPr id="16" name="anim_idea"/>
          <p:cNvSpPr/>
          <p:nvPr/>
        </p:nvSpPr>
        <p:spPr>
          <a:xfrm>
            <a:off x="320040" y="1691640"/>
            <a:ext cx="11521440" cy="10972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it"/>
          <p:cNvSpPr txBox="1"/>
          <p:nvPr/>
        </p:nvSpPr>
        <p:spPr>
          <a:xfrm>
            <a:off x="502920" y="1874519"/>
            <a:ext cx="11155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在第 i 个位置插入 e：必须先把 ai … an 全部后移一位，再写入 e，最后 length++。
合法范围：1 ≤ i ≤ n+1。i=n+1 表示表尾追加，移动元素数为 0。</a:t>
            </a:r>
          </a:p>
        </p:txBody>
      </p:sp>
      <p:sp>
        <p:nvSpPr>
          <p:cNvPr id="18" name="anim_s0"/>
          <p:cNvSpPr/>
          <p:nvPr/>
        </p:nvSpPr>
        <p:spPr>
          <a:xfrm>
            <a:off x="320040" y="2971800"/>
            <a:ext cx="278892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sh0"/>
          <p:cNvSpPr txBox="1"/>
          <p:nvPr/>
        </p:nvSpPr>
        <p:spPr>
          <a:xfrm>
            <a:off x="457200" y="310896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① 合法性</a:t>
            </a:r>
          </a:p>
        </p:txBody>
      </p:sp>
      <p:sp>
        <p:nvSpPr>
          <p:cNvPr id="20" name="anim_sb0"/>
          <p:cNvSpPr txBox="1"/>
          <p:nvPr/>
        </p:nvSpPr>
        <p:spPr>
          <a:xfrm>
            <a:off x="457200" y="3520440"/>
            <a:ext cx="2514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 越界则失败
报错并返回</a:t>
            </a:r>
          </a:p>
        </p:txBody>
      </p:sp>
      <p:sp>
        <p:nvSpPr>
          <p:cNvPr id="21" name="anim_s1"/>
          <p:cNvSpPr/>
          <p:nvPr/>
        </p:nvSpPr>
        <p:spPr>
          <a:xfrm>
            <a:off x="3246120" y="2971800"/>
            <a:ext cx="278892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sh1"/>
          <p:cNvSpPr txBox="1"/>
          <p:nvPr/>
        </p:nvSpPr>
        <p:spPr>
          <a:xfrm>
            <a:off x="3383280" y="310896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② 判满</a:t>
            </a:r>
          </a:p>
        </p:txBody>
      </p:sp>
      <p:sp>
        <p:nvSpPr>
          <p:cNvPr id="23" name="anim_sb1"/>
          <p:cNvSpPr txBox="1"/>
          <p:nvPr/>
        </p:nvSpPr>
        <p:spPr>
          <a:xfrm>
            <a:off x="3383280" y="3520440"/>
            <a:ext cx="2514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length≥capacity
扩容或失败</a:t>
            </a:r>
          </a:p>
        </p:txBody>
      </p:sp>
      <p:sp>
        <p:nvSpPr>
          <p:cNvPr id="24" name="anim_s2"/>
          <p:cNvSpPr/>
          <p:nvPr/>
        </p:nvSpPr>
        <p:spPr>
          <a:xfrm>
            <a:off x="6172200" y="2971800"/>
            <a:ext cx="278892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nim_sh2"/>
          <p:cNvSpPr txBox="1"/>
          <p:nvPr/>
        </p:nvSpPr>
        <p:spPr>
          <a:xfrm>
            <a:off x="6309360" y="310896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③ 后移</a:t>
            </a:r>
          </a:p>
        </p:txBody>
      </p:sp>
      <p:sp>
        <p:nvSpPr>
          <p:cNvPr id="26" name="anim_sb2"/>
          <p:cNvSpPr txBox="1"/>
          <p:nvPr/>
        </p:nvSpPr>
        <p:spPr>
          <a:xfrm>
            <a:off x="6309360" y="3520440"/>
            <a:ext cx="2514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for j=n; j≥i
data[j]=data[j-1]</a:t>
            </a:r>
          </a:p>
        </p:txBody>
      </p:sp>
      <p:sp>
        <p:nvSpPr>
          <p:cNvPr id="27" name="anim_s3"/>
          <p:cNvSpPr/>
          <p:nvPr/>
        </p:nvSpPr>
        <p:spPr>
          <a:xfrm>
            <a:off x="9098280" y="2971800"/>
            <a:ext cx="2788920" cy="1965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nim_sh3"/>
          <p:cNvSpPr txBox="1"/>
          <p:nvPr/>
        </p:nvSpPr>
        <p:spPr>
          <a:xfrm>
            <a:off x="9235440" y="3108960"/>
            <a:ext cx="2514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④ 写入</a:t>
            </a:r>
          </a:p>
        </p:txBody>
      </p:sp>
      <p:sp>
        <p:nvSpPr>
          <p:cNvPr id="29" name="anim_sb3"/>
          <p:cNvSpPr txBox="1"/>
          <p:nvPr/>
        </p:nvSpPr>
        <p:spPr>
          <a:xfrm>
            <a:off x="9235440" y="3520440"/>
            <a:ext cx="2514600" cy="12344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data[i-1] ← e
length ← length+1</a:t>
            </a:r>
          </a:p>
        </p:txBody>
      </p:sp>
      <p:sp>
        <p:nvSpPr>
          <p:cNvPr id="30" name="anim_c"/>
          <p:cNvSpPr txBox="1"/>
          <p:nvPr/>
        </p:nvSpPr>
        <p:spPr>
          <a:xfrm>
            <a:off x="320040" y="5120640"/>
            <a:ext cx="115214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平均时间复杂度：假设插入位置均匀，移动次数期望为 n/2，故 T(n)=O(n)。
表尾插入可到 O(1)（均摊，若扩容则偶发 O(n)）。空间 O(1) 额外（不计扩容缓冲）。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 animBg="1"/>
      <p:bldP spid="19" grpId="0" build="allAtOnce"/>
      <p:bldP spid="20" grpId="0" build="allAtOnce"/>
      <p:bldP spid="21" grpId="0" build="allAtOnce" animBg="1"/>
      <p:bldP spid="22" grpId="0" build="allAtOnce"/>
      <p:bldP spid="23" grpId="0" build="allAtOnce"/>
      <p:bldP spid="24" grpId="0" build="allAtOnce" animBg="1"/>
      <p:bldP spid="25" grpId="0" build="allAtOnce"/>
      <p:bldP spid="26" grpId="0" build="allAtOnce"/>
      <p:bldP spid="27" grpId="0" build="allAtOnce" animBg="1"/>
      <p:bldP spid="28" grpId="0" build="allAtOnce"/>
      <p:bldP spid="29" grpId="0" build="allAtOnce"/>
      <p:bldP spid="30" grpId="0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2.2 顺序表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算法流程页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15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流程图：顺序表插入</a:t>
            </a:r>
          </a:p>
        </p:txBody>
      </p:sp>
      <p:sp>
        <p:nvSpPr>
          <p:cNvPr id="16" name="chrome_arr"/>
          <p:cNvSpPr/>
          <p:nvPr/>
        </p:nvSpPr>
        <p:spPr>
          <a:xfrm>
            <a:off x="3246120" y="2331720"/>
            <a:ext cx="256032" cy="3200400"/>
          </a:xfrm>
          <a:prstGeom prst="downArrow">
            <a:avLst/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f0"/>
          <p:cNvSpPr/>
          <p:nvPr/>
        </p:nvSpPr>
        <p:spPr>
          <a:xfrm>
            <a:off x="1737360" y="1920240"/>
            <a:ext cx="3291840" cy="566928"/>
          </a:xfrm>
          <a:prstGeom prst="round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nim_ft0"/>
          <p:cNvSpPr txBox="1"/>
          <p:nvPr/>
        </p:nvSpPr>
        <p:spPr>
          <a:xfrm>
            <a:off x="1737360" y="2029968"/>
            <a:ext cx="3291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开始</a:t>
            </a:r>
          </a:p>
        </p:txBody>
      </p:sp>
      <p:sp>
        <p:nvSpPr>
          <p:cNvPr id="19" name="anim_f1"/>
          <p:cNvSpPr/>
          <p:nvPr/>
        </p:nvSpPr>
        <p:spPr>
          <a:xfrm>
            <a:off x="1463040" y="2606040"/>
            <a:ext cx="3840480" cy="566928"/>
          </a:xfrm>
          <a:prstGeom prst="diamond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ft1"/>
          <p:cNvSpPr txBox="1"/>
          <p:nvPr/>
        </p:nvSpPr>
        <p:spPr>
          <a:xfrm>
            <a:off x="1463040" y="2715768"/>
            <a:ext cx="3840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 是否在 1..n+1？</a:t>
            </a:r>
          </a:p>
        </p:txBody>
      </p:sp>
      <p:sp>
        <p:nvSpPr>
          <p:cNvPr id="21" name="anim_f2"/>
          <p:cNvSpPr/>
          <p:nvPr/>
        </p:nvSpPr>
        <p:spPr>
          <a:xfrm>
            <a:off x="1463040" y="3383280"/>
            <a:ext cx="3840480" cy="566928"/>
          </a:xfrm>
          <a:prstGeom prst="diamond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ft2"/>
          <p:cNvSpPr txBox="1"/>
          <p:nvPr/>
        </p:nvSpPr>
        <p:spPr>
          <a:xfrm>
            <a:off x="1463040" y="3493008"/>
            <a:ext cx="38404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是否已满？</a:t>
            </a:r>
          </a:p>
        </p:txBody>
      </p:sp>
      <p:sp>
        <p:nvSpPr>
          <p:cNvPr id="23" name="anim_f3"/>
          <p:cNvSpPr/>
          <p:nvPr/>
        </p:nvSpPr>
        <p:spPr>
          <a:xfrm>
            <a:off x="1737360" y="4160520"/>
            <a:ext cx="3291840" cy="566928"/>
          </a:xfrm>
          <a:prstGeom prst="roundRect">
            <a:avLst/>
          </a:prstGeom>
          <a:solidFill>
            <a:srgbClr val="15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anim_ft3"/>
          <p:cNvSpPr txBox="1"/>
          <p:nvPr/>
        </p:nvSpPr>
        <p:spPr>
          <a:xfrm>
            <a:off x="1737360" y="4270248"/>
            <a:ext cx="3291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j←n … i：data[j]←data[j-1]</a:t>
            </a:r>
          </a:p>
        </p:txBody>
      </p:sp>
      <p:sp>
        <p:nvSpPr>
          <p:cNvPr id="25" name="anim_f4"/>
          <p:cNvSpPr/>
          <p:nvPr/>
        </p:nvSpPr>
        <p:spPr>
          <a:xfrm>
            <a:off x="1737360" y="4937760"/>
            <a:ext cx="3291840" cy="566928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nim_ft4"/>
          <p:cNvSpPr txBox="1"/>
          <p:nvPr/>
        </p:nvSpPr>
        <p:spPr>
          <a:xfrm>
            <a:off x="1737360" y="5047488"/>
            <a:ext cx="3291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data[i-1]←e；length++</a:t>
            </a:r>
          </a:p>
        </p:txBody>
      </p:sp>
      <p:sp>
        <p:nvSpPr>
          <p:cNvPr id="27" name="anim_f5"/>
          <p:cNvSpPr/>
          <p:nvPr/>
        </p:nvSpPr>
        <p:spPr>
          <a:xfrm>
            <a:off x="1737360" y="5623560"/>
            <a:ext cx="3291840" cy="566928"/>
          </a:xfrm>
          <a:prstGeom prst="round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nim_ft5"/>
          <p:cNvSpPr txBox="1"/>
          <p:nvPr/>
        </p:nvSpPr>
        <p:spPr>
          <a:xfrm>
            <a:off x="1737360" y="5733288"/>
            <a:ext cx="329184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返回成功 / 失败</a:t>
            </a:r>
          </a:p>
        </p:txBody>
      </p:sp>
      <p:sp>
        <p:nvSpPr>
          <p:cNvPr id="29" name="anim_r"/>
          <p:cNvSpPr/>
          <p:nvPr/>
        </p:nvSpPr>
        <p:spPr>
          <a:xfrm>
            <a:off x="6035040" y="1965960"/>
            <a:ext cx="5806440" cy="4251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anim_rh"/>
          <p:cNvSpPr txBox="1"/>
          <p:nvPr/>
        </p:nvSpPr>
        <p:spPr>
          <a:xfrm>
            <a:off x="6217920" y="2148840"/>
            <a:ext cx="5486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放映时口头走一遍</a:t>
            </a:r>
          </a:p>
        </p:txBody>
      </p:sp>
      <p:sp>
        <p:nvSpPr>
          <p:cNvPr id="31" name="anim_rb"/>
          <p:cNvSpPr txBox="1"/>
          <p:nvPr/>
        </p:nvSpPr>
        <p:spPr>
          <a:xfrm>
            <a:off x="6217920" y="2651760"/>
            <a:ext cx="5440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菱形是判断：两个出口，失败路径直接返回。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后移循环必须从后向前，否则会把同一值复制到后面所有格子。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C++ 下标 = 位序 − 1，流程图里要说清。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扩容策略（2 倍）可在“已满”分支展开，作为提高题。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思政：判断分支像问诊——先排除禁忌，再动手加减药味。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7" grpId="0" build="allAtOnce" animBg="1"/>
      <p:bldP spid="18" grpId="0" build="allAtOnce"/>
      <p:bldP spid="19" grpId="0" build="allAtOnce" animBg="1"/>
      <p:bldP spid="20" grpId="0" build="allAtOnce"/>
      <p:bldP spid="21" grpId="0" build="allAtOnce" animBg="1"/>
      <p:bldP spid="22" grpId="0" build="allAtOnce"/>
      <p:bldP spid="23" grpId="0" build="allAtOnce" animBg="1"/>
      <p:bldP spid="24" grpId="0" build="allAtOnce"/>
      <p:bldP spid="25" grpId="0" build="allAtOnce" animBg="1"/>
      <p:bldP spid="26" grpId="0" build="allAtOnce"/>
      <p:bldP spid="27" grpId="0" build="allAtOnce" animBg="1"/>
      <p:bldP spid="28" grpId="0" build="allAtOnce"/>
      <p:bldP spid="29" grpId="0" build="allAtOnce" animBg="1"/>
      <p:bldP spid="30" grpId="0" build="allAtOnce"/>
      <p:bldP spid="31" grpId="0" build="allAtOnce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2.2 顺序表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856232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85623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C++代码页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16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C++：顺序表插入（位序从 1 计）</a:t>
            </a:r>
          </a:p>
        </p:txBody>
      </p:sp>
      <p:sp>
        <p:nvSpPr>
          <p:cNvPr id="16" name="chrome_codebg"/>
          <p:cNvSpPr/>
          <p:nvPr/>
        </p:nvSpPr>
        <p:spPr>
          <a:xfrm>
            <a:off x="320040" y="1691640"/>
            <a:ext cx="7818120" cy="4572000"/>
          </a:xfrm>
          <a:prstGeom prst="roundRect">
            <a:avLst>
              <a:gd name="adj" fmla="val 8000"/>
            </a:avLst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rome_codebar"/>
          <p:cNvSpPr/>
          <p:nvPr/>
        </p:nvSpPr>
        <p:spPr>
          <a:xfrm>
            <a:off x="320040" y="1691640"/>
            <a:ext cx="7818120" cy="329184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hrome_codetitle"/>
          <p:cNvSpPr txBox="1"/>
          <p:nvPr/>
        </p:nvSpPr>
        <p:spPr>
          <a:xfrm>
            <a:off x="466344" y="1728216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C++  ·  SeqList::insert</a:t>
            </a:r>
          </a:p>
        </p:txBody>
      </p:sp>
      <p:sp>
        <p:nvSpPr>
          <p:cNvPr id="19" name="chrome_dot"/>
          <p:cNvSpPr/>
          <p:nvPr/>
        </p:nvSpPr>
        <p:spPr>
          <a:xfrm>
            <a:off x="7315200" y="1783080"/>
            <a:ext cx="128016" cy="128016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hrome_dot"/>
          <p:cNvSpPr/>
          <p:nvPr/>
        </p:nvSpPr>
        <p:spPr>
          <a:xfrm>
            <a:off x="7516368" y="1783080"/>
            <a:ext cx="128016" cy="128016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rome_dot"/>
          <p:cNvSpPr/>
          <p:nvPr/>
        </p:nvSpPr>
        <p:spPr>
          <a:xfrm>
            <a:off x="7717536" y="1783080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code"/>
          <p:cNvSpPr txBox="1"/>
          <p:nvPr/>
        </p:nvSpPr>
        <p:spPr>
          <a:xfrm>
            <a:off x="484632" y="2075688"/>
            <a:ext cx="7543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#include &lt;iostream&gt;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using namespace std;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template&lt;typename T&gt;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class SeqList 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T* data; int length, cap;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public: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SeqList(int c=16): length(0), cap(c) 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data = new T[cap];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~SeqList(){ delete[] data; 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bool insert(int i, const T&amp; e){          // 位序从 1 开始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if(i&lt;1 || i&gt;length+1) return false;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if(length&gt;=cap) return false;        // 简化：不扩容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for(int j=length; j&gt;=i; --j)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    data[j] = data[j-1];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data[i-1] = e; ++length;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return true;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23" name="anim_r"/>
          <p:cNvSpPr/>
          <p:nvPr/>
        </p:nvSpPr>
        <p:spPr>
          <a:xfrm>
            <a:off x="8275320" y="169164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anim_h"/>
          <p:cNvSpPr txBox="1"/>
          <p:nvPr/>
        </p:nvSpPr>
        <p:spPr>
          <a:xfrm>
            <a:off x="8430768" y="1874519"/>
            <a:ext cx="3246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阅读要点</a:t>
            </a:r>
          </a:p>
        </p:txBody>
      </p:sp>
      <p:sp>
        <p:nvSpPr>
          <p:cNvPr id="25" name="anim_b"/>
          <p:cNvSpPr txBox="1"/>
          <p:nvPr/>
        </p:nvSpPr>
        <p:spPr>
          <a:xfrm>
            <a:off x="8366760" y="2286000"/>
            <a:ext cx="3337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new T[cap] 连续空间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析构必须 delete[]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i 是位序不是下标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循环 j=length 到 i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赋值 data[j]=data[j-1]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最后才 length++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满表本例直接失败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22" grpId="0" build="allAtOnce"/>
      <p:bldP spid="23" grpId="0" build="allAtOnce" animBg="1"/>
      <p:bldP spid="24" grpId="0" build="allAtOnce"/>
      <p:bldP spid="25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2.2 顺序表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算法讲解页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17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算法：顺序表删除 ListDelete(L, i, &amp;e)</a:t>
            </a:r>
          </a:p>
        </p:txBody>
      </p:sp>
      <p:sp>
        <p:nvSpPr>
          <p:cNvPr id="16" name="anim_idea"/>
          <p:cNvSpPr/>
          <p:nvPr/>
        </p:nvSpPr>
        <p:spPr>
          <a:xfrm>
            <a:off x="320040" y="1691640"/>
            <a:ext cx="11521440" cy="11430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it"/>
          <p:cNvSpPr txBox="1"/>
          <p:nvPr/>
        </p:nvSpPr>
        <p:spPr>
          <a:xfrm>
            <a:off x="502920" y="1874519"/>
            <a:ext cx="111556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删除第 i 个元素：先取出 e ← ai，再把 ai+1 … an 依次前移覆盖空缺，length--。
合法范围：1 ≤ i ≤ n。空表或越界均失败。平均移动 (n−1)/2，T(n)=O(n)。</a:t>
            </a:r>
          </a:p>
        </p:txBody>
      </p:sp>
      <p:sp>
        <p:nvSpPr>
          <p:cNvPr id="18" name="anim_tbl"/>
          <p:cNvSpPr/>
          <p:nvPr/>
        </p:nvSpPr>
        <p:spPr>
          <a:xfrm>
            <a:off x="320040" y="3017520"/>
            <a:ext cx="11521440" cy="32004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0_0"/>
          <p:cNvSpPr txBox="1"/>
          <p:nvPr/>
        </p:nvSpPr>
        <p:spPr>
          <a:xfrm>
            <a:off x="502920" y="32004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操作</a:t>
            </a:r>
          </a:p>
        </p:txBody>
      </p:sp>
      <p:sp>
        <p:nvSpPr>
          <p:cNvPr id="20" name="anim_0_1"/>
          <p:cNvSpPr txBox="1"/>
          <p:nvPr/>
        </p:nvSpPr>
        <p:spPr>
          <a:xfrm>
            <a:off x="4251959" y="32004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插入</a:t>
            </a:r>
          </a:p>
        </p:txBody>
      </p:sp>
      <p:sp>
        <p:nvSpPr>
          <p:cNvPr id="21" name="anim_0_2"/>
          <p:cNvSpPr txBox="1"/>
          <p:nvPr/>
        </p:nvSpPr>
        <p:spPr>
          <a:xfrm>
            <a:off x="8001000" y="32004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删除</a:t>
            </a:r>
          </a:p>
        </p:txBody>
      </p:sp>
      <p:sp>
        <p:nvSpPr>
          <p:cNvPr id="22" name="anim_1_0"/>
          <p:cNvSpPr txBox="1"/>
          <p:nvPr/>
        </p:nvSpPr>
        <p:spPr>
          <a:xfrm>
            <a:off x="502920" y="36576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移动方向</a:t>
            </a:r>
          </a:p>
        </p:txBody>
      </p:sp>
      <p:sp>
        <p:nvSpPr>
          <p:cNvPr id="23" name="anim_1_1"/>
          <p:cNvSpPr txBox="1"/>
          <p:nvPr/>
        </p:nvSpPr>
        <p:spPr>
          <a:xfrm>
            <a:off x="4251959" y="36576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从后向前</a:t>
            </a:r>
          </a:p>
        </p:txBody>
      </p:sp>
      <p:sp>
        <p:nvSpPr>
          <p:cNvPr id="24" name="anim_1_2"/>
          <p:cNvSpPr txBox="1"/>
          <p:nvPr/>
        </p:nvSpPr>
        <p:spPr>
          <a:xfrm>
            <a:off x="8001000" y="36576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从前向后</a:t>
            </a:r>
          </a:p>
        </p:txBody>
      </p:sp>
      <p:sp>
        <p:nvSpPr>
          <p:cNvPr id="25" name="anim_2_0"/>
          <p:cNvSpPr txBox="1"/>
          <p:nvPr/>
        </p:nvSpPr>
        <p:spPr>
          <a:xfrm>
            <a:off x="502920" y="41148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移动个数</a:t>
            </a:r>
          </a:p>
        </p:txBody>
      </p:sp>
      <p:sp>
        <p:nvSpPr>
          <p:cNvPr id="26" name="anim_2_1"/>
          <p:cNvSpPr txBox="1"/>
          <p:nvPr/>
        </p:nvSpPr>
        <p:spPr>
          <a:xfrm>
            <a:off x="4251959" y="41148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n−i+1</a:t>
            </a:r>
          </a:p>
        </p:txBody>
      </p:sp>
      <p:sp>
        <p:nvSpPr>
          <p:cNvPr id="27" name="anim_2_2"/>
          <p:cNvSpPr txBox="1"/>
          <p:nvPr/>
        </p:nvSpPr>
        <p:spPr>
          <a:xfrm>
            <a:off x="8001000" y="41148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n−i</a:t>
            </a:r>
          </a:p>
        </p:txBody>
      </p:sp>
      <p:sp>
        <p:nvSpPr>
          <p:cNvPr id="28" name="anim_3_0"/>
          <p:cNvSpPr txBox="1"/>
          <p:nvPr/>
        </p:nvSpPr>
        <p:spPr>
          <a:xfrm>
            <a:off x="502920" y="45720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最好</a:t>
            </a:r>
          </a:p>
        </p:txBody>
      </p:sp>
      <p:sp>
        <p:nvSpPr>
          <p:cNvPr id="29" name="anim_3_1"/>
          <p:cNvSpPr txBox="1"/>
          <p:nvPr/>
        </p:nvSpPr>
        <p:spPr>
          <a:xfrm>
            <a:off x="4251959" y="45720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表尾 O(1)</a:t>
            </a:r>
          </a:p>
        </p:txBody>
      </p:sp>
      <p:sp>
        <p:nvSpPr>
          <p:cNvPr id="30" name="anim_3_2"/>
          <p:cNvSpPr txBox="1"/>
          <p:nvPr/>
        </p:nvSpPr>
        <p:spPr>
          <a:xfrm>
            <a:off x="8001000" y="45720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表尾 O(1)</a:t>
            </a:r>
          </a:p>
        </p:txBody>
      </p:sp>
      <p:sp>
        <p:nvSpPr>
          <p:cNvPr id="31" name="anim_4_0"/>
          <p:cNvSpPr txBox="1"/>
          <p:nvPr/>
        </p:nvSpPr>
        <p:spPr>
          <a:xfrm>
            <a:off x="502920" y="50292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最坏</a:t>
            </a:r>
          </a:p>
        </p:txBody>
      </p:sp>
      <p:sp>
        <p:nvSpPr>
          <p:cNvPr id="32" name="anim_4_1"/>
          <p:cNvSpPr txBox="1"/>
          <p:nvPr/>
        </p:nvSpPr>
        <p:spPr>
          <a:xfrm>
            <a:off x="4251959" y="50292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表头 O(n)</a:t>
            </a:r>
          </a:p>
        </p:txBody>
      </p:sp>
      <p:sp>
        <p:nvSpPr>
          <p:cNvPr id="33" name="anim_4_2"/>
          <p:cNvSpPr txBox="1"/>
          <p:nvPr/>
        </p:nvSpPr>
        <p:spPr>
          <a:xfrm>
            <a:off x="8001000" y="50292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表头 O(n)</a:t>
            </a:r>
          </a:p>
        </p:txBody>
      </p:sp>
      <p:sp>
        <p:nvSpPr>
          <p:cNvPr id="34" name="anim_5_0"/>
          <p:cNvSpPr txBox="1"/>
          <p:nvPr/>
        </p:nvSpPr>
        <p:spPr>
          <a:xfrm>
            <a:off x="502920" y="54864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平均</a:t>
            </a:r>
          </a:p>
        </p:txBody>
      </p:sp>
      <p:sp>
        <p:nvSpPr>
          <p:cNvPr id="35" name="anim_5_1"/>
          <p:cNvSpPr txBox="1"/>
          <p:nvPr/>
        </p:nvSpPr>
        <p:spPr>
          <a:xfrm>
            <a:off x="4251959" y="54864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O(n)</a:t>
            </a:r>
          </a:p>
        </p:txBody>
      </p:sp>
      <p:sp>
        <p:nvSpPr>
          <p:cNvPr id="36" name="anim_5_2"/>
          <p:cNvSpPr txBox="1"/>
          <p:nvPr/>
        </p:nvSpPr>
        <p:spPr>
          <a:xfrm>
            <a:off x="8001000" y="5486400"/>
            <a:ext cx="35661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O(n)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 animBg="1"/>
      <p:bldP spid="19" grpId="0" build="allAtOnce"/>
      <p:bldP spid="20" grpId="0" build="allAtOnce"/>
      <p:bldP spid="21" grpId="0" build="allAtOnce"/>
      <p:bldP spid="22" grpId="0" build="allAtOnce"/>
      <p:bldP spid="23" grpId="0" build="allAtOnce"/>
      <p:bldP spid="24" grpId="0" build="allAtOnce"/>
      <p:bldP spid="25" grpId="0" build="allAtOnce"/>
      <p:bldP spid="26" grpId="0" build="allAtOnce"/>
      <p:bldP spid="27" grpId="0" build="allAtOnce"/>
      <p:bldP spid="28" grpId="0" build="allAtOnce"/>
      <p:bldP spid="29" grpId="0" build="allAtOnce"/>
      <p:bldP spid="30" grpId="0" build="allAtOnce"/>
      <p:bldP spid="31" grpId="0" build="allAtOnce"/>
      <p:bldP spid="32" grpId="0" build="allAtOnce"/>
      <p:bldP spid="33" grpId="0" build="allAtOnce"/>
      <p:bldP spid="34" grpId="0" build="allAtOnce"/>
      <p:bldP spid="35" grpId="0" build="allAtOnce"/>
      <p:bldP spid="36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2.2 顺序表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算法流程页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18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流程图：顺序表删除</a:t>
            </a:r>
          </a:p>
        </p:txBody>
      </p:sp>
      <p:sp>
        <p:nvSpPr>
          <p:cNvPr id="16" name="anim_s0"/>
          <p:cNvSpPr/>
          <p:nvPr/>
        </p:nvSpPr>
        <p:spPr>
          <a:xfrm>
            <a:off x="2011680" y="1783080"/>
            <a:ext cx="4023360" cy="566928"/>
          </a:xfrm>
          <a:prstGeom prst="roundRect">
            <a:avLst>
              <a:gd name="adj" fmla="val 10000"/>
            </a:avLst>
          </a:prstGeom>
          <a:solidFill>
            <a:srgbClr val="15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st0"/>
          <p:cNvSpPr txBox="1"/>
          <p:nvPr/>
        </p:nvSpPr>
        <p:spPr>
          <a:xfrm>
            <a:off x="2011680" y="1892807"/>
            <a:ext cx="4023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开始</a:t>
            </a:r>
          </a:p>
        </p:txBody>
      </p:sp>
      <p:sp>
        <p:nvSpPr>
          <p:cNvPr id="18" name="anim_a0"/>
          <p:cNvSpPr/>
          <p:nvPr/>
        </p:nvSpPr>
        <p:spPr>
          <a:xfrm>
            <a:off x="3886200" y="2331720"/>
            <a:ext cx="201168" cy="201168"/>
          </a:xfrm>
          <a:prstGeom prst="down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s1"/>
          <p:cNvSpPr/>
          <p:nvPr/>
        </p:nvSpPr>
        <p:spPr>
          <a:xfrm>
            <a:off x="2011680" y="2514600"/>
            <a:ext cx="4023360" cy="566928"/>
          </a:xfrm>
          <a:prstGeom prst="roundRect">
            <a:avLst>
              <a:gd name="adj" fmla="val 10000"/>
            </a:avLst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st1"/>
          <p:cNvSpPr txBox="1"/>
          <p:nvPr/>
        </p:nvSpPr>
        <p:spPr>
          <a:xfrm>
            <a:off x="2011680" y="2624328"/>
            <a:ext cx="4023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表空或 i 非法？</a:t>
            </a:r>
          </a:p>
        </p:txBody>
      </p:sp>
      <p:sp>
        <p:nvSpPr>
          <p:cNvPr id="21" name="anim_a1"/>
          <p:cNvSpPr/>
          <p:nvPr/>
        </p:nvSpPr>
        <p:spPr>
          <a:xfrm>
            <a:off x="3886200" y="3063240"/>
            <a:ext cx="201168" cy="201168"/>
          </a:xfrm>
          <a:prstGeom prst="down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s2"/>
          <p:cNvSpPr/>
          <p:nvPr/>
        </p:nvSpPr>
        <p:spPr>
          <a:xfrm>
            <a:off x="2011680" y="3246120"/>
            <a:ext cx="4023360" cy="566928"/>
          </a:xfrm>
          <a:prstGeom prst="roundRect">
            <a:avLst>
              <a:gd name="adj" fmla="val 10000"/>
            </a:avLst>
          </a:prstGeom>
          <a:solidFill>
            <a:srgbClr val="15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nim_st2"/>
          <p:cNvSpPr txBox="1"/>
          <p:nvPr/>
        </p:nvSpPr>
        <p:spPr>
          <a:xfrm>
            <a:off x="2011680" y="3355848"/>
            <a:ext cx="4023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 ← data[i-1]</a:t>
            </a:r>
          </a:p>
        </p:txBody>
      </p:sp>
      <p:sp>
        <p:nvSpPr>
          <p:cNvPr id="24" name="anim_a2"/>
          <p:cNvSpPr/>
          <p:nvPr/>
        </p:nvSpPr>
        <p:spPr>
          <a:xfrm>
            <a:off x="3886200" y="3794759"/>
            <a:ext cx="201168" cy="201168"/>
          </a:xfrm>
          <a:prstGeom prst="down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nim_s3"/>
          <p:cNvSpPr/>
          <p:nvPr/>
        </p:nvSpPr>
        <p:spPr>
          <a:xfrm>
            <a:off x="2011680" y="3977640"/>
            <a:ext cx="4023360" cy="566928"/>
          </a:xfrm>
          <a:prstGeom prst="roundRect">
            <a:avLst>
              <a:gd name="adj" fmla="val 10000"/>
            </a:avLst>
          </a:prstGeom>
          <a:solidFill>
            <a:srgbClr val="15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nim_st3"/>
          <p:cNvSpPr txBox="1"/>
          <p:nvPr/>
        </p:nvSpPr>
        <p:spPr>
          <a:xfrm>
            <a:off x="2011680" y="4087368"/>
            <a:ext cx="4023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j←i … n-1：data[j-1]←data[j]</a:t>
            </a:r>
          </a:p>
        </p:txBody>
      </p:sp>
      <p:sp>
        <p:nvSpPr>
          <p:cNvPr id="27" name="anim_a3"/>
          <p:cNvSpPr/>
          <p:nvPr/>
        </p:nvSpPr>
        <p:spPr>
          <a:xfrm>
            <a:off x="3886200" y="4526280"/>
            <a:ext cx="201168" cy="201168"/>
          </a:xfrm>
          <a:prstGeom prst="down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nim_s4"/>
          <p:cNvSpPr/>
          <p:nvPr/>
        </p:nvSpPr>
        <p:spPr>
          <a:xfrm>
            <a:off x="2011680" y="4709160"/>
            <a:ext cx="4023360" cy="566928"/>
          </a:xfrm>
          <a:prstGeom prst="roundRect">
            <a:avLst>
              <a:gd name="adj" fmla="val 1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nim_st4"/>
          <p:cNvSpPr txBox="1"/>
          <p:nvPr/>
        </p:nvSpPr>
        <p:spPr>
          <a:xfrm>
            <a:off x="2011680" y="4818888"/>
            <a:ext cx="4023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length--</a:t>
            </a:r>
          </a:p>
        </p:txBody>
      </p:sp>
      <p:sp>
        <p:nvSpPr>
          <p:cNvPr id="30" name="anim_a4"/>
          <p:cNvSpPr/>
          <p:nvPr/>
        </p:nvSpPr>
        <p:spPr>
          <a:xfrm>
            <a:off x="3886200" y="5257800"/>
            <a:ext cx="201168" cy="201168"/>
          </a:xfrm>
          <a:prstGeom prst="down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nim_s5"/>
          <p:cNvSpPr/>
          <p:nvPr/>
        </p:nvSpPr>
        <p:spPr>
          <a:xfrm>
            <a:off x="2011680" y="5440680"/>
            <a:ext cx="4023360" cy="566928"/>
          </a:xfrm>
          <a:prstGeom prst="roundRect">
            <a:avLst>
              <a:gd name="adj" fmla="val 10000"/>
            </a:avLst>
          </a:prstGeom>
          <a:solidFill>
            <a:srgbClr val="15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anim_st5"/>
          <p:cNvSpPr txBox="1"/>
          <p:nvPr/>
        </p:nvSpPr>
        <p:spPr>
          <a:xfrm>
            <a:off x="2011680" y="5550408"/>
            <a:ext cx="4023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返回</a:t>
            </a:r>
          </a:p>
        </p:txBody>
      </p:sp>
      <p:sp>
        <p:nvSpPr>
          <p:cNvPr id="33" name="anim_r"/>
          <p:cNvSpPr/>
          <p:nvPr/>
        </p:nvSpPr>
        <p:spPr>
          <a:xfrm>
            <a:off x="6492240" y="1783080"/>
            <a:ext cx="5303520" cy="44348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anim_h"/>
          <p:cNvSpPr txBox="1"/>
          <p:nvPr/>
        </p:nvSpPr>
        <p:spPr>
          <a:xfrm>
            <a:off x="6675120" y="196596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B7185"/>
                </a:solidFill>
                <a:latin typeface="微软雅黑"/>
                <a:ea typeface="微软雅黑"/>
                <a:cs typeface="微软雅黑"/>
              </a:rPr>
              <a:t>易错提醒</a:t>
            </a:r>
          </a:p>
        </p:txBody>
      </p:sp>
      <p:sp>
        <p:nvSpPr>
          <p:cNvPr id="35" name="anim_b"/>
          <p:cNvSpPr txBox="1"/>
          <p:nvPr/>
        </p:nvSpPr>
        <p:spPr>
          <a:xfrm>
            <a:off x="6675120" y="246888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删除后不要使用已越界的 data[length]（旧尾）。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若元素是堆上对象，需先释放再覆盖（本课以值类型为主）。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length-- 必须在移动完成之后。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查找失败与删除失败要返回不同信息，便于上层（如HIS）提示医生。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思政：漏删、错删医嘱都不可接受——算法的每个分支都是安全责任。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0"/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3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5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 animBg="1"/>
      <p:bldP spid="19" grpId="0" build="allAtOnce" animBg="1"/>
      <p:bldP spid="20" grpId="0" build="allAtOnce"/>
      <p:bldP spid="21" grpId="0" build="allAtOnce" animBg="1"/>
      <p:bldP spid="22" grpId="0" build="allAtOnce" animBg="1"/>
      <p:bldP spid="23" grpId="0" build="allAtOnce"/>
      <p:bldP spid="24" grpId="0" build="allAtOnce" animBg="1"/>
      <p:bldP spid="25" grpId="0" build="allAtOnce" animBg="1"/>
      <p:bldP spid="26" grpId="0" build="allAtOnce"/>
      <p:bldP spid="27" grpId="0" build="allAtOnce" animBg="1"/>
      <p:bldP spid="28" grpId="0" build="allAtOnce" animBg="1"/>
      <p:bldP spid="29" grpId="0" build="allAtOnce"/>
      <p:bldP spid="30" grpId="0" build="allAtOnce" animBg="1"/>
      <p:bldP spid="31" grpId="0" build="allAtOnce" animBg="1"/>
      <p:bldP spid="32" grpId="0" build="allAtOnce"/>
      <p:bldP spid="33" grpId="0" build="allAtOnce" animBg="1"/>
      <p:bldP spid="34" grpId="0" build="allAtOnce"/>
      <p:bldP spid="35" grpId="0" build="allAtOnce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2.2 顺序表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856232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85623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C++代码页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19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C++：删除、按值查找与随机读取</a:t>
            </a:r>
          </a:p>
        </p:txBody>
      </p:sp>
      <p:sp>
        <p:nvSpPr>
          <p:cNvPr id="16" name="chrome_codebg"/>
          <p:cNvSpPr/>
          <p:nvPr/>
        </p:nvSpPr>
        <p:spPr>
          <a:xfrm>
            <a:off x="320040" y="1691640"/>
            <a:ext cx="7680960" cy="4572000"/>
          </a:xfrm>
          <a:prstGeom prst="roundRect">
            <a:avLst>
              <a:gd name="adj" fmla="val 8000"/>
            </a:avLst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rome_codebar"/>
          <p:cNvSpPr/>
          <p:nvPr/>
        </p:nvSpPr>
        <p:spPr>
          <a:xfrm>
            <a:off x="320040" y="1691640"/>
            <a:ext cx="7680960" cy="329184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hrome_codetitle"/>
          <p:cNvSpPr txBox="1"/>
          <p:nvPr/>
        </p:nvSpPr>
        <p:spPr>
          <a:xfrm>
            <a:off x="466344" y="1728216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C++  ·  remove / locate</a:t>
            </a:r>
          </a:p>
        </p:txBody>
      </p:sp>
      <p:sp>
        <p:nvSpPr>
          <p:cNvPr id="19" name="chrome_dot"/>
          <p:cNvSpPr/>
          <p:nvPr/>
        </p:nvSpPr>
        <p:spPr>
          <a:xfrm>
            <a:off x="7178040" y="1783080"/>
            <a:ext cx="128016" cy="128016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hrome_dot"/>
          <p:cNvSpPr/>
          <p:nvPr/>
        </p:nvSpPr>
        <p:spPr>
          <a:xfrm>
            <a:off x="7379208" y="1783080"/>
            <a:ext cx="128016" cy="128016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rome_dot"/>
          <p:cNvSpPr/>
          <p:nvPr/>
        </p:nvSpPr>
        <p:spPr>
          <a:xfrm>
            <a:off x="7580376" y="1783080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code"/>
          <p:cNvSpPr txBox="1"/>
          <p:nvPr/>
        </p:nvSpPr>
        <p:spPr>
          <a:xfrm>
            <a:off x="484632" y="2075688"/>
            <a:ext cx="7406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bool remove(int i, T&amp; e){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if(i&lt;1 || i&gt;length) return false;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e = data[i-1];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for(int j=i; j&lt;length; ++j)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data[j-1] = data[j];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--length;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return true;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int locate(const T&amp; e) const {   // 返回位序，0 表示失败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for(int i=0; i&lt;length; ++i)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if(data[i]==e) return i+1;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return 0;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// GetElem : return data[i-1];   // O(1) 随机访问</a:t>
            </a:r>
          </a:p>
        </p:txBody>
      </p:sp>
      <p:sp>
        <p:nvSpPr>
          <p:cNvPr id="23" name="anim_r"/>
          <p:cNvSpPr/>
          <p:nvPr/>
        </p:nvSpPr>
        <p:spPr>
          <a:xfrm>
            <a:off x="8183879" y="169164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anim_h"/>
          <p:cNvSpPr txBox="1"/>
          <p:nvPr/>
        </p:nvSpPr>
        <p:spPr>
          <a:xfrm>
            <a:off x="8366760" y="1874519"/>
            <a:ext cx="3337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复杂度对照</a:t>
            </a:r>
          </a:p>
        </p:txBody>
      </p:sp>
      <p:sp>
        <p:nvSpPr>
          <p:cNvPr id="25" name="anim_b"/>
          <p:cNvSpPr txBox="1"/>
          <p:nvPr/>
        </p:nvSpPr>
        <p:spPr>
          <a:xfrm>
            <a:off x="8321040" y="2331720"/>
            <a:ext cx="33832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GetElem：O(1)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Locate：O(n) 扫描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Insert：O(n) 移动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Delete：O(n) 移动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Traverse：O(n)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随机访问是顺序表的“君药”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移动代价是它的“不良反应”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22" grpId="0" build="allAtOnce"/>
      <p:bldP spid="23" grpId="0" build="allAtOnce" animBg="1"/>
      <p:bldP spid="24" grpId="0" build="allAtOnce"/>
      <p:bldP spid="25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2.2 顺序表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3441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知识点页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20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顺序表：复杂度、优缺点与适用场景</a:t>
            </a:r>
          </a:p>
        </p:txBody>
      </p:sp>
      <p:sp>
        <p:nvSpPr>
          <p:cNvPr id="16" name="anim_b"/>
          <p:cNvSpPr txBox="1"/>
          <p:nvPr/>
        </p:nvSpPr>
        <p:spPr>
          <a:xfrm>
            <a:off x="320040" y="16916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随机访问 O(1)，按值查找、插入、删除均为 O(n)。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存储密度高（不需指针域）；但对插入峰值不友好，常需预留或扩容。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扩容若采用倍增，均摊追加为 O(1)，但单次可能 O(n) 并导致内存峰值。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适用：表长较稳定、查询远多于增删，如药典条目、检查项目字典、只读配置表。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不适用：医院急诊分诊队列频繁插队/撤号——应考虑链表或更专业的队列结构。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思政选型：虚实不同证，用方不同；查询密集用顺序表，动态增减用链表。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01168"/>
            <a:ext cx="1180983" cy="777240"/>
          </a:xfrm>
          <a:prstGeom prst="rect">
            <a:avLst/>
          </a:prstGeom>
        </p:spPr>
      </p:pic>
      <p:sp>
        <p:nvSpPr>
          <p:cNvPr id="6" name="anim_sec"/>
          <p:cNvSpPr txBox="1"/>
          <p:nvPr/>
        </p:nvSpPr>
        <p:spPr>
          <a:xfrm>
            <a:off x="502920" y="15544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SECTION  02.3</a:t>
            </a:r>
          </a:p>
        </p:txBody>
      </p:sp>
      <p:sp>
        <p:nvSpPr>
          <p:cNvPr id="7" name="anim_t"/>
          <p:cNvSpPr txBox="1"/>
          <p:nvPr/>
        </p:nvSpPr>
        <p:spPr>
          <a:xfrm>
            <a:off x="457200" y="196596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线性表的链式表示</a:t>
            </a:r>
          </a:p>
        </p:txBody>
      </p:sp>
      <p:sp>
        <p:nvSpPr>
          <p:cNvPr id="8" name="anim_s"/>
          <p:cNvSpPr txBox="1"/>
          <p:nvPr/>
        </p:nvSpPr>
        <p:spPr>
          <a:xfrm>
            <a:off x="502920" y="3017520"/>
            <a:ext cx="10058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结点分散  ·  指针相接  ·  插入删除不必整体搬家</a:t>
            </a:r>
          </a:p>
        </p:txBody>
      </p:sp>
      <p:sp>
        <p:nvSpPr>
          <p:cNvPr id="9" name="anim_sz"/>
          <p:cNvSpPr txBox="1"/>
          <p:nvPr/>
        </p:nvSpPr>
        <p:spPr>
          <a:xfrm>
            <a:off x="502920" y="585216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思政：链表如“随证加减”——改接一两处指针，即可增味、去味，不必重抄整张处方。</a:t>
            </a:r>
          </a:p>
        </p:txBody>
      </p:sp>
      <p:sp>
        <p:nvSpPr>
          <p:cNvPr id="10" name="chrome_pg"/>
          <p:cNvSpPr txBox="1"/>
          <p:nvPr/>
        </p:nvSpPr>
        <p:spPr>
          <a:xfrm>
            <a:off x="10241280" y="63093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21/46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7" grpId="0" build="allAtOnce"/>
      <p:bldP spid="8" grpId="0" build="allAtOnce"/>
      <p:bldP spid="9" grpId="0" build="allAtOnce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2.3 链表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3441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知识点页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22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链式存储思想与三个容易混的名词</a:t>
            </a:r>
          </a:p>
        </p:txBody>
      </p:sp>
      <p:sp>
        <p:nvSpPr>
          <p:cNvPr id="16" name="anim_c0"/>
          <p:cNvSpPr/>
          <p:nvPr/>
        </p:nvSpPr>
        <p:spPr>
          <a:xfrm>
            <a:off x="320040" y="1691640"/>
            <a:ext cx="11521440" cy="1115568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rome_b0"/>
          <p:cNvSpPr/>
          <p:nvPr/>
        </p:nvSpPr>
        <p:spPr>
          <a:xfrm>
            <a:off x="320040" y="1691640"/>
            <a:ext cx="109728" cy="1115568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nim_h0"/>
          <p:cNvSpPr txBox="1"/>
          <p:nvPr/>
        </p:nvSpPr>
        <p:spPr>
          <a:xfrm>
            <a:off x="640080" y="178308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头指针</a:t>
            </a:r>
          </a:p>
        </p:txBody>
      </p:sp>
      <p:sp>
        <p:nvSpPr>
          <p:cNvPr id="19" name="anim_b0"/>
          <p:cNvSpPr txBox="1"/>
          <p:nvPr/>
        </p:nvSpPr>
        <p:spPr>
          <a:xfrm>
            <a:off x="640080" y="214884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指向第一个结点（若带头结点则指向头结点）。丢失头指针等于丢失整张表。</a:t>
            </a:r>
          </a:p>
        </p:txBody>
      </p:sp>
      <p:sp>
        <p:nvSpPr>
          <p:cNvPr id="20" name="anim_c1"/>
          <p:cNvSpPr/>
          <p:nvPr/>
        </p:nvSpPr>
        <p:spPr>
          <a:xfrm>
            <a:off x="320040" y="2926080"/>
            <a:ext cx="11521440" cy="1115568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rome_b1"/>
          <p:cNvSpPr/>
          <p:nvPr/>
        </p:nvSpPr>
        <p:spPr>
          <a:xfrm>
            <a:off x="320040" y="2926080"/>
            <a:ext cx="109728" cy="1115568"/>
          </a:xfrm>
          <a:prstGeom prst="rect">
            <a:avLst/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h1"/>
          <p:cNvSpPr txBox="1"/>
          <p:nvPr/>
        </p:nvSpPr>
        <p:spPr>
          <a:xfrm>
            <a:off x="640080" y="301752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头结点</a:t>
            </a:r>
          </a:p>
        </p:txBody>
      </p:sp>
      <p:sp>
        <p:nvSpPr>
          <p:cNvPr id="23" name="anim_b1"/>
          <p:cNvSpPr txBox="1"/>
          <p:nvPr/>
        </p:nvSpPr>
        <p:spPr>
          <a:xfrm>
            <a:off x="640080" y="338328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附加在首元之前的虚结点，data 可不存信息。统一空表与非空表的插入删除。</a:t>
            </a:r>
          </a:p>
        </p:txBody>
      </p:sp>
      <p:sp>
        <p:nvSpPr>
          <p:cNvPr id="24" name="anim_c2"/>
          <p:cNvSpPr/>
          <p:nvPr/>
        </p:nvSpPr>
        <p:spPr>
          <a:xfrm>
            <a:off x="320040" y="4160520"/>
            <a:ext cx="11521440" cy="1115568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hrome_b2"/>
          <p:cNvSpPr/>
          <p:nvPr/>
        </p:nvSpPr>
        <p:spPr>
          <a:xfrm>
            <a:off x="320040" y="4160520"/>
            <a:ext cx="109728" cy="111556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nim_h2"/>
          <p:cNvSpPr txBox="1"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首元结点</a:t>
            </a:r>
          </a:p>
        </p:txBody>
      </p:sp>
      <p:sp>
        <p:nvSpPr>
          <p:cNvPr id="27" name="anim_b2"/>
          <p:cNvSpPr txBox="1"/>
          <p:nvPr/>
        </p:nvSpPr>
        <p:spPr>
          <a:xfrm>
            <a:off x="640080" y="461772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存储 a1 的那个结点。无头结点时，头指针直接指向它。</a:t>
            </a:r>
          </a:p>
        </p:txBody>
      </p:sp>
      <p:sp>
        <p:nvSpPr>
          <p:cNvPr id="28" name="anim_tip"/>
          <p:cNvSpPr txBox="1"/>
          <p:nvPr/>
        </p:nvSpPr>
        <p:spPr>
          <a:xfrm>
            <a:off x="320040" y="5532120"/>
            <a:ext cx="11521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建议课程统一采用“带头结点的单链表”作为默认实现，减少空表分支，降低指针操作出错率。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8" grpId="0" build="allAtOnce"/>
      <p:bldP spid="19" grpId="0" build="allAtOnce"/>
      <p:bldP spid="20" grpId="0" build="allAtOnce" animBg="1"/>
      <p:bldP spid="22" grpId="0" build="allAtOnce"/>
      <p:bldP spid="23" grpId="0" build="allAtOnce"/>
      <p:bldP spid="24" grpId="0" build="allAtOnce" animBg="1"/>
      <p:bldP spid="26" grpId="0" build="allAtOnce"/>
      <p:bldP spid="27" grpId="0" build="allAtOnce"/>
      <p:bldP spid="28" grpId="0" build="allAtOnce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2.3 链表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2368296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23682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数据结构示意图页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23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示意图：带头结点的单链表</a:t>
            </a:r>
          </a:p>
        </p:txBody>
      </p:sp>
      <p:sp>
        <p:nvSpPr>
          <p:cNvPr id="16" name="anim_d0"/>
          <p:cNvSpPr/>
          <p:nvPr/>
        </p:nvSpPr>
        <p:spPr>
          <a:xfrm>
            <a:off x="365760" y="2011680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153D64"/>
          </a:solidFill>
          <a:ln w="1524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p0"/>
          <p:cNvSpPr/>
          <p:nvPr/>
        </p:nvSpPr>
        <p:spPr>
          <a:xfrm>
            <a:off x="1783080" y="2011680"/>
            <a:ext cx="640080" cy="960120"/>
          </a:xfrm>
          <a:prstGeom prst="roundRect">
            <a:avLst>
              <a:gd name="adj" fmla="val 8000"/>
            </a:avLst>
          </a:prstGeom>
          <a:solidFill>
            <a:srgbClr val="1A4A72"/>
          </a:solidFill>
          <a:ln w="1524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nim_dt0"/>
          <p:cNvSpPr txBox="1"/>
          <p:nvPr/>
        </p:nvSpPr>
        <p:spPr>
          <a:xfrm>
            <a:off x="365760" y="2194560"/>
            <a:ext cx="1417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头</a:t>
            </a:r>
          </a:p>
        </p:txBody>
      </p:sp>
      <p:sp>
        <p:nvSpPr>
          <p:cNvPr id="19" name="anim_pt0"/>
          <p:cNvSpPr txBox="1"/>
          <p:nvPr/>
        </p:nvSpPr>
        <p:spPr>
          <a:xfrm>
            <a:off x="1783080" y="219456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/</a:t>
            </a:r>
          </a:p>
        </p:txBody>
      </p:sp>
      <p:sp>
        <p:nvSpPr>
          <p:cNvPr id="20" name="anim_a0"/>
          <p:cNvSpPr/>
          <p:nvPr/>
        </p:nvSpPr>
        <p:spPr>
          <a:xfrm>
            <a:off x="2487168" y="2331720"/>
            <a:ext cx="658368" cy="256032"/>
          </a:xfrm>
          <a:prstGeom prst="right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im_d1"/>
          <p:cNvSpPr/>
          <p:nvPr/>
        </p:nvSpPr>
        <p:spPr>
          <a:xfrm>
            <a:off x="3246120" y="2011680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153D64"/>
          </a:solidFill>
          <a:ln w="1524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p1"/>
          <p:cNvSpPr/>
          <p:nvPr/>
        </p:nvSpPr>
        <p:spPr>
          <a:xfrm>
            <a:off x="4663440" y="2011680"/>
            <a:ext cx="640080" cy="960120"/>
          </a:xfrm>
          <a:prstGeom prst="roundRect">
            <a:avLst>
              <a:gd name="adj" fmla="val 8000"/>
            </a:avLst>
          </a:prstGeom>
          <a:solidFill>
            <a:srgbClr val="1A4A72"/>
          </a:solidFill>
          <a:ln w="1524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nim_dt1"/>
          <p:cNvSpPr txBox="1"/>
          <p:nvPr/>
        </p:nvSpPr>
        <p:spPr>
          <a:xfrm>
            <a:off x="3246120" y="2194560"/>
            <a:ext cx="1417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麻黄</a:t>
            </a:r>
          </a:p>
        </p:txBody>
      </p:sp>
      <p:sp>
        <p:nvSpPr>
          <p:cNvPr id="24" name="anim_pt1"/>
          <p:cNvSpPr txBox="1"/>
          <p:nvPr/>
        </p:nvSpPr>
        <p:spPr>
          <a:xfrm>
            <a:off x="4663440" y="219456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anim_a1"/>
          <p:cNvSpPr/>
          <p:nvPr/>
        </p:nvSpPr>
        <p:spPr>
          <a:xfrm>
            <a:off x="5367527" y="2331720"/>
            <a:ext cx="658368" cy="256032"/>
          </a:xfrm>
          <a:prstGeom prst="right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nim_d2"/>
          <p:cNvSpPr/>
          <p:nvPr/>
        </p:nvSpPr>
        <p:spPr>
          <a:xfrm>
            <a:off x="6126480" y="2011680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153D64"/>
          </a:solidFill>
          <a:ln w="1524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anim_p2"/>
          <p:cNvSpPr/>
          <p:nvPr/>
        </p:nvSpPr>
        <p:spPr>
          <a:xfrm>
            <a:off x="7543800" y="2011680"/>
            <a:ext cx="640080" cy="960120"/>
          </a:xfrm>
          <a:prstGeom prst="roundRect">
            <a:avLst>
              <a:gd name="adj" fmla="val 8000"/>
            </a:avLst>
          </a:prstGeom>
          <a:solidFill>
            <a:srgbClr val="1A4A72"/>
          </a:solidFill>
          <a:ln w="1524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nim_dt2"/>
          <p:cNvSpPr txBox="1"/>
          <p:nvPr/>
        </p:nvSpPr>
        <p:spPr>
          <a:xfrm>
            <a:off x="6126480" y="2194560"/>
            <a:ext cx="1417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桂枝</a:t>
            </a:r>
          </a:p>
        </p:txBody>
      </p:sp>
      <p:sp>
        <p:nvSpPr>
          <p:cNvPr id="29" name="anim_pt2"/>
          <p:cNvSpPr txBox="1"/>
          <p:nvPr/>
        </p:nvSpPr>
        <p:spPr>
          <a:xfrm>
            <a:off x="7543800" y="219456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0" name="anim_a2"/>
          <p:cNvSpPr/>
          <p:nvPr/>
        </p:nvSpPr>
        <p:spPr>
          <a:xfrm>
            <a:off x="8247888" y="2331720"/>
            <a:ext cx="658368" cy="256032"/>
          </a:xfrm>
          <a:prstGeom prst="right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nim_d3"/>
          <p:cNvSpPr/>
          <p:nvPr/>
        </p:nvSpPr>
        <p:spPr>
          <a:xfrm>
            <a:off x="9006840" y="2011680"/>
            <a:ext cx="1417320" cy="960120"/>
          </a:xfrm>
          <a:prstGeom prst="roundRect">
            <a:avLst>
              <a:gd name="adj" fmla="val 8000"/>
            </a:avLst>
          </a:prstGeom>
          <a:solidFill>
            <a:srgbClr val="153D64"/>
          </a:solidFill>
          <a:ln w="1524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anim_p3"/>
          <p:cNvSpPr/>
          <p:nvPr/>
        </p:nvSpPr>
        <p:spPr>
          <a:xfrm>
            <a:off x="10424160" y="2011680"/>
            <a:ext cx="640080" cy="960120"/>
          </a:xfrm>
          <a:prstGeom prst="roundRect">
            <a:avLst>
              <a:gd name="adj" fmla="val 8000"/>
            </a:avLst>
          </a:prstGeom>
          <a:solidFill>
            <a:srgbClr val="1A4A72"/>
          </a:solidFill>
          <a:ln w="1524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nim_dt3"/>
          <p:cNvSpPr txBox="1"/>
          <p:nvPr/>
        </p:nvSpPr>
        <p:spPr>
          <a:xfrm>
            <a:off x="9006840" y="2194560"/>
            <a:ext cx="1417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甘草</a:t>
            </a:r>
          </a:p>
        </p:txBody>
      </p:sp>
      <p:sp>
        <p:nvSpPr>
          <p:cNvPr id="34" name="anim_pt3"/>
          <p:cNvSpPr txBox="1"/>
          <p:nvPr/>
        </p:nvSpPr>
        <p:spPr>
          <a:xfrm>
            <a:off x="10424160" y="219456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∧</a:t>
            </a:r>
          </a:p>
        </p:txBody>
      </p:sp>
      <p:sp>
        <p:nvSpPr>
          <p:cNvPr id="35" name="anim_head"/>
          <p:cNvSpPr txBox="1"/>
          <p:nvPr/>
        </p:nvSpPr>
        <p:spPr>
          <a:xfrm>
            <a:off x="365760" y="1691640"/>
            <a:ext cx="20116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head</a:t>
            </a:r>
          </a:p>
        </p:txBody>
      </p:sp>
      <p:sp>
        <p:nvSpPr>
          <p:cNvPr id="36" name="anim_cap"/>
          <p:cNvSpPr txBox="1"/>
          <p:nvPr/>
        </p:nvSpPr>
        <p:spPr>
          <a:xfrm>
            <a:off x="365760" y="310896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data 域存放元素，next 域存放后继地址。表尾 next = nullptr（图中 ∧）。</a:t>
            </a:r>
          </a:p>
        </p:txBody>
      </p:sp>
      <p:sp>
        <p:nvSpPr>
          <p:cNvPr id="37" name="anim_l"/>
          <p:cNvSpPr/>
          <p:nvPr/>
        </p:nvSpPr>
        <p:spPr>
          <a:xfrm>
            <a:off x="320040" y="3611880"/>
            <a:ext cx="5669280" cy="26060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anim_lh"/>
          <p:cNvSpPr txBox="1"/>
          <p:nvPr/>
        </p:nvSpPr>
        <p:spPr>
          <a:xfrm>
            <a:off x="502920" y="3749039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结点定义</a:t>
            </a:r>
          </a:p>
        </p:txBody>
      </p:sp>
      <p:sp>
        <p:nvSpPr>
          <p:cNvPr id="39" name="anim_code"/>
          <p:cNvSpPr txBox="1"/>
          <p:nvPr/>
        </p:nvSpPr>
        <p:spPr>
          <a:xfrm>
            <a:off x="502920" y="4160520"/>
            <a:ext cx="530352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struct Node {
    T data;
    Node* next;
};</a:t>
            </a:r>
          </a:p>
        </p:txBody>
      </p:sp>
      <p:sp>
        <p:nvSpPr>
          <p:cNvPr id="40" name="anim_r"/>
          <p:cNvSpPr/>
          <p:nvPr/>
        </p:nvSpPr>
        <p:spPr>
          <a:xfrm>
            <a:off x="6172200" y="3611880"/>
            <a:ext cx="5669280" cy="26060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anim_rh"/>
          <p:cNvSpPr txBox="1"/>
          <p:nvPr/>
        </p:nvSpPr>
        <p:spPr>
          <a:xfrm>
            <a:off x="6355080" y="3749039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空间特点</a:t>
            </a:r>
          </a:p>
        </p:txBody>
      </p:sp>
      <p:sp>
        <p:nvSpPr>
          <p:cNvPr id="42" name="anim_rb"/>
          <p:cNvSpPr txBox="1"/>
          <p:nvPr/>
        </p:nvSpPr>
        <p:spPr>
          <a:xfrm>
            <a:off x="6355080" y="4160520"/>
            <a:ext cx="5303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逻辑相邻，物理上可不相邻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每个结点额外付出一个指针的空间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按位查找只能从头走 O(n)，无随机访问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5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35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35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3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35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35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3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 animBg="1"/>
      <p:bldP spid="18" grpId="0" build="allAtOnce"/>
      <p:bldP spid="19" grpId="0" build="allAtOnce"/>
      <p:bldP spid="20" grpId="0" build="allAtOnce" animBg="1"/>
      <p:bldP spid="21" grpId="0" build="allAtOnce" animBg="1"/>
      <p:bldP spid="22" grpId="0" build="allAtOnce" animBg="1"/>
      <p:bldP spid="23" grpId="0" build="allAtOnce"/>
      <p:bldP spid="24" grpId="0" build="allAtOnce"/>
      <p:bldP spid="25" grpId="0" build="allAtOnce" animBg="1"/>
      <p:bldP spid="26" grpId="0" build="allAtOnce" animBg="1"/>
      <p:bldP spid="27" grpId="0" build="allAtOnce" animBg="1"/>
      <p:bldP spid="28" grpId="0" build="allAtOnce"/>
      <p:bldP spid="29" grpId="0" build="allAtOnce"/>
      <p:bldP spid="30" grpId="0" build="allAtOnce" animBg="1"/>
      <p:bldP spid="31" grpId="0" build="allAtOnce" animBg="1"/>
      <p:bldP spid="32" grpId="0" build="allAtOnce" animBg="1"/>
      <p:bldP spid="33" grpId="0" build="allAtOnce"/>
      <p:bldP spid="34" grpId="0" build="allAtOnce"/>
      <p:bldP spid="35" grpId="0" build="allAtOnce"/>
      <p:bldP spid="36" grpId="0" build="allAtOnce"/>
      <p:bldP spid="37" grpId="0" build="allAtOnce" animBg="1"/>
      <p:bldP spid="38" grpId="0" build="allAtOnce"/>
      <p:bldP spid="39" grpId="0" build="allAtOnce"/>
      <p:bldP spid="40" grpId="0" build="allAtOnce" animBg="1"/>
      <p:bldP spid="41" grpId="0" build="allAtOnce"/>
      <p:bldP spid="42" grpId="0" build="allAtOnce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2.3 链表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算法讲解页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24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算法：在结点 p 之后插入 s（后插法）</a:t>
            </a:r>
          </a:p>
        </p:txBody>
      </p:sp>
      <p:sp>
        <p:nvSpPr>
          <p:cNvPr id="16" name="anim_k"/>
          <p:cNvSpPr/>
          <p:nvPr/>
        </p:nvSpPr>
        <p:spPr>
          <a:xfrm>
            <a:off x="320040" y="1691640"/>
            <a:ext cx="11521440" cy="12344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kt"/>
          <p:cNvSpPr txBox="1"/>
          <p:nvPr/>
        </p:nvSpPr>
        <p:spPr>
          <a:xfrm>
            <a:off x="502920" y="1828800"/>
            <a:ext cx="1115568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正确顺序：s-&gt;next = p-&gt;next;   p-&gt;next = s;
若先写 p-&gt;next = s，则原后继丢失，轻则断链，重则内存泄漏。这是本章最重要的两行代码。</a:t>
            </a:r>
          </a:p>
        </p:txBody>
      </p:sp>
      <p:sp>
        <p:nvSpPr>
          <p:cNvPr id="18" name="anim_l"/>
          <p:cNvSpPr/>
          <p:nvPr/>
        </p:nvSpPr>
        <p:spPr>
          <a:xfrm>
            <a:off x="320040" y="3108960"/>
            <a:ext cx="5669280" cy="3108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lh"/>
          <p:cNvSpPr txBox="1"/>
          <p:nvPr/>
        </p:nvSpPr>
        <p:spPr>
          <a:xfrm>
            <a:off x="502920" y="324612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ADE80"/>
                </a:solidFill>
                <a:latin typeface="微软雅黑"/>
                <a:ea typeface="微软雅黑"/>
                <a:cs typeface="微软雅黑"/>
              </a:rPr>
              <a:t>后插（常用）</a:t>
            </a:r>
          </a:p>
        </p:txBody>
      </p:sp>
      <p:sp>
        <p:nvSpPr>
          <p:cNvPr id="20" name="anim_lb"/>
          <p:cNvSpPr txBox="1"/>
          <p:nvPr/>
        </p:nvSpPr>
        <p:spPr>
          <a:xfrm>
            <a:off x="502920" y="3749039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已知 p，插入其后，O(1) 改指针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不需要找前驱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带头结点时，在头结点后插入即头插思想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空表、非空表代码一致</a:t>
            </a:r>
          </a:p>
        </p:txBody>
      </p:sp>
      <p:sp>
        <p:nvSpPr>
          <p:cNvPr id="21" name="anim_r"/>
          <p:cNvSpPr/>
          <p:nvPr/>
        </p:nvSpPr>
        <p:spPr>
          <a:xfrm>
            <a:off x="6172200" y="3108960"/>
            <a:ext cx="5669280" cy="31089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rh"/>
          <p:cNvSpPr txBox="1"/>
          <p:nvPr/>
        </p:nvSpPr>
        <p:spPr>
          <a:xfrm>
            <a:off x="6355080" y="3246120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前插</a:t>
            </a:r>
          </a:p>
        </p:txBody>
      </p:sp>
      <p:sp>
        <p:nvSpPr>
          <p:cNvPr id="23" name="anim_rb"/>
          <p:cNvSpPr txBox="1"/>
          <p:nvPr/>
        </p:nvSpPr>
        <p:spPr>
          <a:xfrm>
            <a:off x="6355080" y="3749039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要在 p 之前插入，通常先找前驱 O(n)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或“偷梁换柱”：先后插再交换 data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删除 p 同样需要前驱，或采用类似技巧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考试常考：为何单链表删 p 不便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 animBg="1"/>
      <p:bldP spid="19" grpId="0" build="allAtOnce"/>
      <p:bldP spid="20" grpId="0" build="allAtOnce"/>
      <p:bldP spid="21" grpId="0" build="allAtOnce" animBg="1"/>
      <p:bldP spid="22" grpId="0" build="allAtOnce"/>
      <p:bldP spid="23" grpId="0" build="allAtOnce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2.3 链表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算法流程页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25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流程图：按位序插入（带头结点单链表）</a:t>
            </a:r>
          </a:p>
        </p:txBody>
      </p:sp>
      <p:sp>
        <p:nvSpPr>
          <p:cNvPr id="16" name="anim_s0"/>
          <p:cNvSpPr/>
          <p:nvPr/>
        </p:nvSpPr>
        <p:spPr>
          <a:xfrm>
            <a:off x="411480" y="1737360"/>
            <a:ext cx="5943600" cy="566928"/>
          </a:xfrm>
          <a:prstGeom prst="roundRect">
            <a:avLst>
              <a:gd name="adj" fmla="val 8000"/>
            </a:avLst>
          </a:prstGeom>
          <a:solidFill>
            <a:srgbClr val="15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st0"/>
          <p:cNvSpPr txBox="1"/>
          <p:nvPr/>
        </p:nvSpPr>
        <p:spPr>
          <a:xfrm>
            <a:off x="548640" y="1847088"/>
            <a:ext cx="5669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  申请结点 s，写入 e</a:t>
            </a:r>
          </a:p>
        </p:txBody>
      </p:sp>
      <p:sp>
        <p:nvSpPr>
          <p:cNvPr id="18" name="anim_s1"/>
          <p:cNvSpPr/>
          <p:nvPr/>
        </p:nvSpPr>
        <p:spPr>
          <a:xfrm>
            <a:off x="411480" y="2450591"/>
            <a:ext cx="5943600" cy="566928"/>
          </a:xfrm>
          <a:prstGeom prst="roundRect">
            <a:avLst>
              <a:gd name="adj" fmla="val 8000"/>
            </a:avLst>
          </a:prstGeom>
          <a:solidFill>
            <a:srgbClr val="15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st1"/>
          <p:cNvSpPr txBox="1"/>
          <p:nvPr/>
        </p:nvSpPr>
        <p:spPr>
          <a:xfrm>
            <a:off x="548640" y="2560320"/>
            <a:ext cx="5669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  p ← head；走 i-1 步定位前驱</a:t>
            </a:r>
          </a:p>
        </p:txBody>
      </p:sp>
      <p:sp>
        <p:nvSpPr>
          <p:cNvPr id="20" name="anim_s2"/>
          <p:cNvSpPr/>
          <p:nvPr/>
        </p:nvSpPr>
        <p:spPr>
          <a:xfrm>
            <a:off x="411480" y="3163824"/>
            <a:ext cx="5943600" cy="566928"/>
          </a:xfrm>
          <a:prstGeom prst="roundRect">
            <a:avLst>
              <a:gd name="adj" fmla="val 8000"/>
            </a:avLst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im_st2"/>
          <p:cNvSpPr txBox="1"/>
          <p:nvPr/>
        </p:nvSpPr>
        <p:spPr>
          <a:xfrm>
            <a:off x="548640" y="3273552"/>
            <a:ext cx="5669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  p 是否为空？（位序非法）</a:t>
            </a:r>
          </a:p>
        </p:txBody>
      </p:sp>
      <p:sp>
        <p:nvSpPr>
          <p:cNvPr id="22" name="anim_s3"/>
          <p:cNvSpPr/>
          <p:nvPr/>
        </p:nvSpPr>
        <p:spPr>
          <a:xfrm>
            <a:off x="411480" y="3877056"/>
            <a:ext cx="5943600" cy="566928"/>
          </a:xfrm>
          <a:prstGeom prst="roundRect">
            <a:avLst>
              <a:gd name="adj" fmla="val 8000"/>
            </a:avLst>
          </a:prstGeom>
          <a:solidFill>
            <a:srgbClr val="15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nim_st3"/>
          <p:cNvSpPr txBox="1"/>
          <p:nvPr/>
        </p:nvSpPr>
        <p:spPr>
          <a:xfrm>
            <a:off x="548640" y="3986784"/>
            <a:ext cx="5669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4.  s-&gt;next ← p-&gt;next</a:t>
            </a:r>
          </a:p>
        </p:txBody>
      </p:sp>
      <p:sp>
        <p:nvSpPr>
          <p:cNvPr id="24" name="anim_s4"/>
          <p:cNvSpPr/>
          <p:nvPr/>
        </p:nvSpPr>
        <p:spPr>
          <a:xfrm>
            <a:off x="411480" y="4590288"/>
            <a:ext cx="5943600" cy="566928"/>
          </a:xfrm>
          <a:prstGeom prst="roundRect">
            <a:avLst>
              <a:gd name="adj" fmla="val 8000"/>
            </a:avLst>
          </a:prstGeom>
          <a:solidFill>
            <a:srgbClr val="15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nim_st4"/>
          <p:cNvSpPr txBox="1"/>
          <p:nvPr/>
        </p:nvSpPr>
        <p:spPr>
          <a:xfrm>
            <a:off x="548640" y="4700016"/>
            <a:ext cx="5669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5.  p-&gt;next ← s</a:t>
            </a:r>
          </a:p>
        </p:txBody>
      </p:sp>
      <p:sp>
        <p:nvSpPr>
          <p:cNvPr id="26" name="anim_s5"/>
          <p:cNvSpPr/>
          <p:nvPr/>
        </p:nvSpPr>
        <p:spPr>
          <a:xfrm>
            <a:off x="411480" y="5303520"/>
            <a:ext cx="5943600" cy="566928"/>
          </a:xfrm>
          <a:prstGeom prst="roundRect">
            <a:avLst>
              <a:gd name="adj" fmla="val 8000"/>
            </a:avLst>
          </a:prstGeom>
          <a:solidFill>
            <a:srgbClr val="153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anim_st5"/>
          <p:cNvSpPr txBox="1"/>
          <p:nvPr/>
        </p:nvSpPr>
        <p:spPr>
          <a:xfrm>
            <a:off x="548640" y="5413248"/>
            <a:ext cx="56692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  length++ 并返回</a:t>
            </a:r>
          </a:p>
        </p:txBody>
      </p:sp>
      <p:sp>
        <p:nvSpPr>
          <p:cNvPr id="28" name="anim_r"/>
          <p:cNvSpPr/>
          <p:nvPr/>
        </p:nvSpPr>
        <p:spPr>
          <a:xfrm>
            <a:off x="6583680" y="1737360"/>
            <a:ext cx="5257800" cy="44805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nim_h"/>
          <p:cNvSpPr txBox="1"/>
          <p:nvPr/>
        </p:nvSpPr>
        <p:spPr>
          <a:xfrm>
            <a:off x="6766560" y="192024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复杂度</a:t>
            </a:r>
          </a:p>
        </p:txBody>
      </p:sp>
      <p:sp>
        <p:nvSpPr>
          <p:cNvPr id="30" name="anim_b"/>
          <p:cNvSpPr txBox="1"/>
          <p:nvPr/>
        </p:nvSpPr>
        <p:spPr>
          <a:xfrm>
            <a:off x="6766560" y="2377440"/>
            <a:ext cx="4892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定位前驱 O(i)，平均 O(n)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指针改接本身 O(1)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所以按位插入整体仍是 O(n)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但“已知指针后的插入”是 O(1)——这才是链表相对顺序表的真正优势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删除同理：找前驱 O(n)，摘链 O(1)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思政：定位如问诊，改接如下药——问诊耗时，下药要准、要稳。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 animBg="1"/>
      <p:bldP spid="19" grpId="0" build="allAtOnce"/>
      <p:bldP spid="20" grpId="0" build="allAtOnce" animBg="1"/>
      <p:bldP spid="21" grpId="0" build="allAtOnce"/>
      <p:bldP spid="22" grpId="0" build="allAtOnce" animBg="1"/>
      <p:bldP spid="23" grpId="0" build="allAtOnce"/>
      <p:bldP spid="24" grpId="0" build="allAtOnce" animBg="1"/>
      <p:bldP spid="25" grpId="0" build="allAtOnce"/>
      <p:bldP spid="26" grpId="0" build="allAtOnce" animBg="1"/>
      <p:bldP spid="27" grpId="0" build="allAtOnce"/>
      <p:bldP spid="28" grpId="0" build="allAtOnce" animBg="1"/>
      <p:bldP spid="29" grpId="0" build="allAtOnce"/>
      <p:bldP spid="30" grpId="0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2.3 链表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856232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85623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C++代码页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26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C++：带头结点单链表的插入与删除</a:t>
            </a:r>
          </a:p>
        </p:txBody>
      </p:sp>
      <p:sp>
        <p:nvSpPr>
          <p:cNvPr id="16" name="chrome_codebg"/>
          <p:cNvSpPr/>
          <p:nvPr/>
        </p:nvSpPr>
        <p:spPr>
          <a:xfrm>
            <a:off x="274320" y="1664208"/>
            <a:ext cx="7955279" cy="4617720"/>
          </a:xfrm>
          <a:prstGeom prst="roundRect">
            <a:avLst>
              <a:gd name="adj" fmla="val 8000"/>
            </a:avLst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rome_codebar"/>
          <p:cNvSpPr/>
          <p:nvPr/>
        </p:nvSpPr>
        <p:spPr>
          <a:xfrm>
            <a:off x="274320" y="1664208"/>
            <a:ext cx="7955279" cy="329184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hrome_codetitle"/>
          <p:cNvSpPr txBox="1"/>
          <p:nvPr/>
        </p:nvSpPr>
        <p:spPr>
          <a:xfrm>
            <a:off x="420624" y="1700784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C++  ·  SList</a:t>
            </a:r>
          </a:p>
        </p:txBody>
      </p:sp>
      <p:sp>
        <p:nvSpPr>
          <p:cNvPr id="19" name="chrome_dot"/>
          <p:cNvSpPr/>
          <p:nvPr/>
        </p:nvSpPr>
        <p:spPr>
          <a:xfrm>
            <a:off x="7406639" y="1755648"/>
            <a:ext cx="128016" cy="128016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hrome_dot"/>
          <p:cNvSpPr/>
          <p:nvPr/>
        </p:nvSpPr>
        <p:spPr>
          <a:xfrm>
            <a:off x="7607807" y="1755648"/>
            <a:ext cx="128016" cy="128016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rome_dot"/>
          <p:cNvSpPr/>
          <p:nvPr/>
        </p:nvSpPr>
        <p:spPr>
          <a:xfrm>
            <a:off x="7808975" y="1755648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code"/>
          <p:cNvSpPr txBox="1"/>
          <p:nvPr/>
        </p:nvSpPr>
        <p:spPr>
          <a:xfrm>
            <a:off x="438912" y="2048256"/>
            <a:ext cx="768095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struct Node { int data; Node* next; };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class SList 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Node* head; int n;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public: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SList(){ head=new Node{0,nullptr}; n=0; 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~SList(){ while(head){ auto*q=head; head=head-&gt;next; delete q; } 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bool insertAfter(Node* p, int e){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if(!p) return false;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auto* s = new Node{e, p-&gt;next};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p-&gt;next = s; ++n;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return true;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bool removeAfter(Node* p){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if(!p || !p-&gt;next) return false;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auto* q = p-&gt;next;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p-&gt;next = q-&gt;next;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delete q; --n;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return true;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23" name="anim_r"/>
          <p:cNvSpPr/>
          <p:nvPr/>
        </p:nvSpPr>
        <p:spPr>
          <a:xfrm>
            <a:off x="8366760" y="1664208"/>
            <a:ext cx="3474720" cy="461772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anim_h"/>
          <p:cNvSpPr txBox="1"/>
          <p:nvPr/>
        </p:nvSpPr>
        <p:spPr>
          <a:xfrm>
            <a:off x="8503920" y="1828800"/>
            <a:ext cx="3200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内存责任</a:t>
            </a:r>
          </a:p>
        </p:txBody>
      </p:sp>
      <p:sp>
        <p:nvSpPr>
          <p:cNvPr id="25" name="anim_b"/>
          <p:cNvSpPr txBox="1"/>
          <p:nvPr/>
        </p:nvSpPr>
        <p:spPr>
          <a:xfrm>
            <a:off x="8458200" y="2286000"/>
            <a:ext cx="3246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new 必有 delete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析构沿 next 释放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删结点先改链再释放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防止野指针与断链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头结点也要释放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这是工程师的“用药安全”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22" grpId="0" build="allAtOnce"/>
      <p:bldP spid="23" grpId="0" build="allAtOnce" animBg="1"/>
      <p:bldP spid="24" grpId="0" build="allAtOnce"/>
      <p:bldP spid="25" grpId="0" build="allAtOnce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2.3 链表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2368296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23682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数据结构示意图页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27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循环链表：让表尾指向头结点</a:t>
            </a:r>
          </a:p>
        </p:txBody>
      </p:sp>
      <p:sp>
        <p:nvSpPr>
          <p:cNvPr id="16" name="anim_l"/>
          <p:cNvSpPr/>
          <p:nvPr/>
        </p:nvSpPr>
        <p:spPr>
          <a:xfrm>
            <a:off x="320040" y="1691640"/>
            <a:ext cx="7589520" cy="45720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h"/>
          <p:cNvSpPr txBox="1"/>
          <p:nvPr/>
        </p:nvSpPr>
        <p:spPr>
          <a:xfrm>
            <a:off x="502920" y="1874519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单循环链表要点</a:t>
            </a:r>
          </a:p>
        </p:txBody>
      </p:sp>
      <p:sp>
        <p:nvSpPr>
          <p:cNvPr id="18" name="anim_b"/>
          <p:cNvSpPr txBox="1"/>
          <p:nvPr/>
        </p:nvSpPr>
        <p:spPr>
          <a:xfrm>
            <a:off x="502920" y="2331720"/>
            <a:ext cx="72237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判断空表：head-&gt;next == head（带头结点时）。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判断表尾：p-&gt;next == head，而不是 p-&gt;next == nullptr。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从任一结点出发都能遍历全表，适合“轮转”类问题。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常设尾指针 rear，则头为 rear-&gt;next，表尾插入、合并两表均可 O(1)。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双循环链表：prior / next 都成环，对称性更好。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应用：操作系统循环调度、多窗口轮询、课堂点名圈。</a:t>
            </a:r>
          </a:p>
        </p:txBody>
      </p:sp>
      <p:sp>
        <p:nvSpPr>
          <p:cNvPr id="19" name="anim_r"/>
          <p:cNvSpPr/>
          <p:nvPr/>
        </p:nvSpPr>
        <p:spPr>
          <a:xfrm>
            <a:off x="8092440" y="1691640"/>
            <a:ext cx="3749039" cy="45720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rh"/>
          <p:cNvSpPr txBox="1"/>
          <p:nvPr/>
        </p:nvSpPr>
        <p:spPr>
          <a:xfrm>
            <a:off x="8275320" y="1874519"/>
            <a:ext cx="3383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判空对照</a:t>
            </a:r>
          </a:p>
        </p:txBody>
      </p:sp>
      <p:sp>
        <p:nvSpPr>
          <p:cNvPr id="21" name="anim_rt"/>
          <p:cNvSpPr txBox="1"/>
          <p:nvPr/>
        </p:nvSpPr>
        <p:spPr>
          <a:xfrm>
            <a:off x="8275320" y="2377440"/>
            <a:ext cx="3383280" cy="3566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单链表空：
head-&gt;next = nullptr
循环链表空：
head-&gt;next = head
考试默写最易写错，
请当成“药名别字”来防。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/>
      <p:bldP spid="19" grpId="0" build="allAtOnce" animBg="1"/>
      <p:bldP spid="20" grpId="0" build="allAtOnce"/>
      <p:bldP spid="21" grpId="0" build="allAtOnce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2.3 链表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2368296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236829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数据结构示意图页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28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双向链表：prior | data | next</a:t>
            </a:r>
          </a:p>
        </p:txBody>
      </p:sp>
      <p:sp>
        <p:nvSpPr>
          <p:cNvPr id="16" name="anim_pr0"/>
          <p:cNvSpPr/>
          <p:nvPr/>
        </p:nvSpPr>
        <p:spPr>
          <a:xfrm>
            <a:off x="502920" y="1965960"/>
            <a:ext cx="502920" cy="914400"/>
          </a:xfrm>
          <a:prstGeom prst="rect">
            <a:avLst/>
          </a:prstGeom>
          <a:solidFill>
            <a:srgbClr val="1A4A72"/>
          </a:solidFill>
          <a:ln w="1270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d0"/>
          <p:cNvSpPr/>
          <p:nvPr/>
        </p:nvSpPr>
        <p:spPr>
          <a:xfrm>
            <a:off x="1005840" y="1965960"/>
            <a:ext cx="1051560" cy="914400"/>
          </a:xfrm>
          <a:prstGeom prst="rect">
            <a:avLst/>
          </a:prstGeom>
          <a:solidFill>
            <a:srgbClr val="153D64"/>
          </a:solidFill>
          <a:ln w="1270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nim_nx0"/>
          <p:cNvSpPr/>
          <p:nvPr/>
        </p:nvSpPr>
        <p:spPr>
          <a:xfrm>
            <a:off x="2057400" y="1965960"/>
            <a:ext cx="502920" cy="914400"/>
          </a:xfrm>
          <a:prstGeom prst="rect">
            <a:avLst/>
          </a:prstGeom>
          <a:solidFill>
            <a:srgbClr val="1A4A72"/>
          </a:solidFill>
          <a:ln w="1270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t0"/>
          <p:cNvSpPr txBox="1"/>
          <p:nvPr/>
        </p:nvSpPr>
        <p:spPr>
          <a:xfrm>
            <a:off x="1005840" y="2148840"/>
            <a:ext cx="10515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头</a:t>
            </a:r>
          </a:p>
        </p:txBody>
      </p:sp>
      <p:sp>
        <p:nvSpPr>
          <p:cNvPr id="20" name="anim_pl0"/>
          <p:cNvSpPr txBox="1"/>
          <p:nvPr/>
        </p:nvSpPr>
        <p:spPr>
          <a:xfrm>
            <a:off x="502920" y="21945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←</a:t>
            </a:r>
          </a:p>
        </p:txBody>
      </p:sp>
      <p:sp>
        <p:nvSpPr>
          <p:cNvPr id="21" name="anim_nl0"/>
          <p:cNvSpPr txBox="1"/>
          <p:nvPr/>
        </p:nvSpPr>
        <p:spPr>
          <a:xfrm>
            <a:off x="2057400" y="21945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2" name="anim_ar0"/>
          <p:cNvSpPr/>
          <p:nvPr/>
        </p:nvSpPr>
        <p:spPr>
          <a:xfrm>
            <a:off x="2624328" y="2286000"/>
            <a:ext cx="658368" cy="201168"/>
          </a:xfrm>
          <a:prstGeom prst="right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nim_pr1"/>
          <p:cNvSpPr/>
          <p:nvPr/>
        </p:nvSpPr>
        <p:spPr>
          <a:xfrm>
            <a:off x="3383280" y="1965960"/>
            <a:ext cx="502920" cy="914400"/>
          </a:xfrm>
          <a:prstGeom prst="rect">
            <a:avLst/>
          </a:prstGeom>
          <a:solidFill>
            <a:srgbClr val="1A4A72"/>
          </a:solidFill>
          <a:ln w="1270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anim_d1"/>
          <p:cNvSpPr/>
          <p:nvPr/>
        </p:nvSpPr>
        <p:spPr>
          <a:xfrm>
            <a:off x="3886200" y="1965960"/>
            <a:ext cx="1051560" cy="914400"/>
          </a:xfrm>
          <a:prstGeom prst="rect">
            <a:avLst/>
          </a:prstGeom>
          <a:solidFill>
            <a:srgbClr val="153D64"/>
          </a:solidFill>
          <a:ln w="1270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nim_nx1"/>
          <p:cNvSpPr/>
          <p:nvPr/>
        </p:nvSpPr>
        <p:spPr>
          <a:xfrm>
            <a:off x="4937760" y="1965960"/>
            <a:ext cx="502920" cy="914400"/>
          </a:xfrm>
          <a:prstGeom prst="rect">
            <a:avLst/>
          </a:prstGeom>
          <a:solidFill>
            <a:srgbClr val="1A4A72"/>
          </a:solidFill>
          <a:ln w="1270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nim_t1"/>
          <p:cNvSpPr txBox="1"/>
          <p:nvPr/>
        </p:nvSpPr>
        <p:spPr>
          <a:xfrm>
            <a:off x="3886200" y="2148840"/>
            <a:ext cx="10515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27" name="anim_pl1"/>
          <p:cNvSpPr txBox="1"/>
          <p:nvPr/>
        </p:nvSpPr>
        <p:spPr>
          <a:xfrm>
            <a:off x="3383280" y="21945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←</a:t>
            </a:r>
          </a:p>
        </p:txBody>
      </p:sp>
      <p:sp>
        <p:nvSpPr>
          <p:cNvPr id="28" name="anim_nl1"/>
          <p:cNvSpPr txBox="1"/>
          <p:nvPr/>
        </p:nvSpPr>
        <p:spPr>
          <a:xfrm>
            <a:off x="4937760" y="21945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9" name="anim_ar1"/>
          <p:cNvSpPr/>
          <p:nvPr/>
        </p:nvSpPr>
        <p:spPr>
          <a:xfrm>
            <a:off x="5504688" y="2286000"/>
            <a:ext cx="658368" cy="201168"/>
          </a:xfrm>
          <a:prstGeom prst="right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anim_pr2"/>
          <p:cNvSpPr/>
          <p:nvPr/>
        </p:nvSpPr>
        <p:spPr>
          <a:xfrm>
            <a:off x="6263640" y="1965960"/>
            <a:ext cx="502920" cy="914400"/>
          </a:xfrm>
          <a:prstGeom prst="rect">
            <a:avLst/>
          </a:prstGeom>
          <a:solidFill>
            <a:srgbClr val="1A4A72"/>
          </a:solidFill>
          <a:ln w="1270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nim_d2"/>
          <p:cNvSpPr/>
          <p:nvPr/>
        </p:nvSpPr>
        <p:spPr>
          <a:xfrm>
            <a:off x="6766559" y="1965960"/>
            <a:ext cx="1051560" cy="914400"/>
          </a:xfrm>
          <a:prstGeom prst="rect">
            <a:avLst/>
          </a:prstGeom>
          <a:solidFill>
            <a:srgbClr val="153D64"/>
          </a:solidFill>
          <a:ln w="1270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anim_nx2"/>
          <p:cNvSpPr/>
          <p:nvPr/>
        </p:nvSpPr>
        <p:spPr>
          <a:xfrm>
            <a:off x="7818119" y="1965960"/>
            <a:ext cx="502920" cy="914400"/>
          </a:xfrm>
          <a:prstGeom prst="rect">
            <a:avLst/>
          </a:prstGeom>
          <a:solidFill>
            <a:srgbClr val="1A4A72"/>
          </a:solidFill>
          <a:ln w="1270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nim_t2"/>
          <p:cNvSpPr txBox="1"/>
          <p:nvPr/>
        </p:nvSpPr>
        <p:spPr>
          <a:xfrm>
            <a:off x="6766559" y="2148840"/>
            <a:ext cx="10515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34" name="anim_pl2"/>
          <p:cNvSpPr txBox="1"/>
          <p:nvPr/>
        </p:nvSpPr>
        <p:spPr>
          <a:xfrm>
            <a:off x="6263640" y="21945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←</a:t>
            </a:r>
          </a:p>
        </p:txBody>
      </p:sp>
      <p:sp>
        <p:nvSpPr>
          <p:cNvPr id="35" name="anim_nl2"/>
          <p:cNvSpPr txBox="1"/>
          <p:nvPr/>
        </p:nvSpPr>
        <p:spPr>
          <a:xfrm>
            <a:off x="7818119" y="21945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6" name="anim_ar2"/>
          <p:cNvSpPr/>
          <p:nvPr/>
        </p:nvSpPr>
        <p:spPr>
          <a:xfrm>
            <a:off x="8385048" y="2286000"/>
            <a:ext cx="658368" cy="201168"/>
          </a:xfrm>
          <a:prstGeom prst="right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anim_pr3"/>
          <p:cNvSpPr/>
          <p:nvPr/>
        </p:nvSpPr>
        <p:spPr>
          <a:xfrm>
            <a:off x="9144000" y="1965960"/>
            <a:ext cx="502920" cy="914400"/>
          </a:xfrm>
          <a:prstGeom prst="rect">
            <a:avLst/>
          </a:prstGeom>
          <a:solidFill>
            <a:srgbClr val="1A4A72"/>
          </a:solidFill>
          <a:ln w="1270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anim_d3"/>
          <p:cNvSpPr/>
          <p:nvPr/>
        </p:nvSpPr>
        <p:spPr>
          <a:xfrm>
            <a:off x="9646920" y="1965960"/>
            <a:ext cx="1051560" cy="914400"/>
          </a:xfrm>
          <a:prstGeom prst="rect">
            <a:avLst/>
          </a:prstGeom>
          <a:solidFill>
            <a:srgbClr val="153D64"/>
          </a:solidFill>
          <a:ln w="1270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anim_nx3"/>
          <p:cNvSpPr/>
          <p:nvPr/>
        </p:nvSpPr>
        <p:spPr>
          <a:xfrm>
            <a:off x="10698480" y="1965960"/>
            <a:ext cx="502920" cy="914400"/>
          </a:xfrm>
          <a:prstGeom prst="rect">
            <a:avLst/>
          </a:prstGeom>
          <a:solidFill>
            <a:srgbClr val="1A4A72"/>
          </a:solidFill>
          <a:ln w="12700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nim_t3"/>
          <p:cNvSpPr txBox="1"/>
          <p:nvPr/>
        </p:nvSpPr>
        <p:spPr>
          <a:xfrm>
            <a:off x="9646920" y="2148840"/>
            <a:ext cx="10515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41" name="anim_pl3"/>
          <p:cNvSpPr txBox="1"/>
          <p:nvPr/>
        </p:nvSpPr>
        <p:spPr>
          <a:xfrm>
            <a:off x="9144000" y="21945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←</a:t>
            </a:r>
          </a:p>
        </p:txBody>
      </p:sp>
      <p:sp>
        <p:nvSpPr>
          <p:cNvPr id="42" name="anim_nl3"/>
          <p:cNvSpPr txBox="1"/>
          <p:nvPr/>
        </p:nvSpPr>
        <p:spPr>
          <a:xfrm>
            <a:off x="10698480" y="21945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43" name="anim_cap"/>
          <p:cNvSpPr txBox="1"/>
          <p:nvPr/>
        </p:nvSpPr>
        <p:spPr>
          <a:xfrm>
            <a:off x="411480" y="3017520"/>
            <a:ext cx="11338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插入/删除时 prior 与 next 必须成对修改，少改一个就是隐患。</a:t>
            </a:r>
          </a:p>
        </p:txBody>
      </p:sp>
      <p:sp>
        <p:nvSpPr>
          <p:cNvPr id="44" name="anim_box"/>
          <p:cNvSpPr/>
          <p:nvPr/>
        </p:nvSpPr>
        <p:spPr>
          <a:xfrm>
            <a:off x="320040" y="3474720"/>
            <a:ext cx="11521440" cy="27432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anim_h"/>
          <p:cNvSpPr txBox="1"/>
          <p:nvPr/>
        </p:nvSpPr>
        <p:spPr>
          <a:xfrm>
            <a:off x="502920" y="365760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在 p 之后插入 s 的四步（顺序可记口诀：右接、左接、改后、改前）</a:t>
            </a:r>
          </a:p>
        </p:txBody>
      </p:sp>
      <p:sp>
        <p:nvSpPr>
          <p:cNvPr id="46" name="anim_code"/>
          <p:cNvSpPr txBox="1"/>
          <p:nvPr/>
        </p:nvSpPr>
        <p:spPr>
          <a:xfrm>
            <a:off x="502920" y="4114800"/>
            <a:ext cx="111556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s-&gt;next = p-&gt;next;
s-&gt;prior = p;
p-&gt;next-&gt;prior = s;     // 若存在后继
p-&gt;next = s;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50"/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35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35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35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5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35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5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3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3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5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35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35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 animBg="1"/>
      <p:bldP spid="18" grpId="0" build="allAtOnce" animBg="1"/>
      <p:bldP spid="19" grpId="0" build="allAtOnce"/>
      <p:bldP spid="20" grpId="0" build="allAtOnce"/>
      <p:bldP spid="21" grpId="0" build="allAtOnce"/>
      <p:bldP spid="22" grpId="0" build="allAtOnce" animBg="1"/>
      <p:bldP spid="23" grpId="0" build="allAtOnce" animBg="1"/>
      <p:bldP spid="24" grpId="0" build="allAtOnce" animBg="1"/>
      <p:bldP spid="25" grpId="0" build="allAtOnce" animBg="1"/>
      <p:bldP spid="26" grpId="0" build="allAtOnce"/>
      <p:bldP spid="27" grpId="0" build="allAtOnce"/>
      <p:bldP spid="28" grpId="0" build="allAtOnce"/>
      <p:bldP spid="29" grpId="0" build="allAtOnce" animBg="1"/>
      <p:bldP spid="30" grpId="0" build="allAtOnce" animBg="1"/>
      <p:bldP spid="31" grpId="0" build="allAtOnce" animBg="1"/>
      <p:bldP spid="32" grpId="0" build="allAtOnce" animBg="1"/>
      <p:bldP spid="33" grpId="0" build="allAtOnce"/>
      <p:bldP spid="34" grpId="0" build="allAtOnce"/>
      <p:bldP spid="35" grpId="0" build="allAtOnce"/>
      <p:bldP spid="36" grpId="0" build="allAtOnce" animBg="1"/>
      <p:bldP spid="37" grpId="0" build="allAtOnce" animBg="1"/>
      <p:bldP spid="38" grpId="0" build="allAtOnce" animBg="1"/>
      <p:bldP spid="39" grpId="0" build="allAtOnce" animBg="1"/>
      <p:bldP spid="40" grpId="0" build="allAtOnce"/>
      <p:bldP spid="41" grpId="0" build="allAtOnce"/>
      <p:bldP spid="42" grpId="0" build="allAtOnce"/>
      <p:bldP spid="43" grpId="0" build="allAtOnce"/>
      <p:bldP spid="44" grpId="0" build="allAtOnce" animBg="1"/>
      <p:bldP spid="45" grpId="0" build="allAtOnce"/>
      <p:bldP spid="46" grpId="0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2.3 链表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3441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知识点页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29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静态链表：用数组模拟指针（cursor）</a:t>
            </a:r>
          </a:p>
        </p:txBody>
      </p:sp>
      <p:sp>
        <p:nvSpPr>
          <p:cNvPr id="16" name="anim_b"/>
          <p:cNvSpPr txBox="1"/>
          <p:nvPr/>
        </p:nvSpPr>
        <p:spPr>
          <a:xfrm>
            <a:off x="320040" y="169164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结点：data + cur（游标，指向下一个数组下标）。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备用链表管理空闲结点，分配/回收下标即 malloc/free。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适用于没有指针的语言环境，或教学上理解“地址不过是整数”。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插入删除不移动元素，只改游标，但空间仍是一整块数组。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随机访问并不自由——仍要沿游标行走，复杂度同单链表。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考研常见题：给出 cursor 数组，还原逻辑次序。</a:t>
            </a:r>
          </a:p>
        </p:txBody>
      </p:sp>
      <p:sp>
        <p:nvSpPr>
          <p:cNvPr id="17" name="anim_r"/>
          <p:cNvSpPr/>
          <p:nvPr/>
        </p:nvSpPr>
        <p:spPr>
          <a:xfrm>
            <a:off x="7269480" y="1691640"/>
            <a:ext cx="4572000" cy="45720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nim_h"/>
          <p:cNvSpPr txBox="1"/>
          <p:nvPr/>
        </p:nvSpPr>
        <p:spPr>
          <a:xfrm>
            <a:off x="7452360" y="1874519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三列对照</a:t>
            </a:r>
          </a:p>
        </p:txBody>
      </p:sp>
      <p:sp>
        <p:nvSpPr>
          <p:cNvPr id="19" name="anim_t"/>
          <p:cNvSpPr txBox="1"/>
          <p:nvPr/>
        </p:nvSpPr>
        <p:spPr>
          <a:xfrm>
            <a:off x="7452360" y="2331720"/>
            <a:ext cx="420624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下标   data   cur
  0    （备用头）  2
  1     麻黄      3
  2    （空闲）   4
  3     桂枝      5
  4    （空闲）   0
  5     甘草      0
逻辑链：1→3→5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/>
      <p:bldP spid="17" grpId="0" build="allAtOnce" animBg="1"/>
      <p:bldP spid="18" grpId="0" build="allAtOnce"/>
      <p:bldP spid="19" grpId="0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2.3 链表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856232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85623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C++代码页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30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C++：双向链表插入与删除</a:t>
            </a:r>
          </a:p>
        </p:txBody>
      </p:sp>
      <p:sp>
        <p:nvSpPr>
          <p:cNvPr id="16" name="chrome_codebg"/>
          <p:cNvSpPr/>
          <p:nvPr/>
        </p:nvSpPr>
        <p:spPr>
          <a:xfrm>
            <a:off x="320040" y="1691640"/>
            <a:ext cx="7589520" cy="4572000"/>
          </a:xfrm>
          <a:prstGeom prst="roundRect">
            <a:avLst>
              <a:gd name="adj" fmla="val 8000"/>
            </a:avLst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rome_codebar"/>
          <p:cNvSpPr/>
          <p:nvPr/>
        </p:nvSpPr>
        <p:spPr>
          <a:xfrm>
            <a:off x="320040" y="1691640"/>
            <a:ext cx="7589520" cy="329184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hrome_codetitle"/>
          <p:cNvSpPr txBox="1"/>
          <p:nvPr/>
        </p:nvSpPr>
        <p:spPr>
          <a:xfrm>
            <a:off x="466344" y="1728216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C++  ·  Doubly Linked List</a:t>
            </a:r>
          </a:p>
        </p:txBody>
      </p:sp>
      <p:sp>
        <p:nvSpPr>
          <p:cNvPr id="19" name="chrome_dot"/>
          <p:cNvSpPr/>
          <p:nvPr/>
        </p:nvSpPr>
        <p:spPr>
          <a:xfrm>
            <a:off x="7086600" y="1783080"/>
            <a:ext cx="128016" cy="128016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hrome_dot"/>
          <p:cNvSpPr/>
          <p:nvPr/>
        </p:nvSpPr>
        <p:spPr>
          <a:xfrm>
            <a:off x="7287768" y="1783080"/>
            <a:ext cx="128016" cy="128016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rome_dot"/>
          <p:cNvSpPr/>
          <p:nvPr/>
        </p:nvSpPr>
        <p:spPr>
          <a:xfrm>
            <a:off x="7488936" y="1783080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code"/>
          <p:cNvSpPr txBox="1"/>
          <p:nvPr/>
        </p:nvSpPr>
        <p:spPr>
          <a:xfrm>
            <a:off x="484632" y="2075688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// 在双向链表结点 p 之后插入 s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void insertAfter(Node* p, Node* s){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s-&gt;next = p-&gt;next;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s-&gt;prior = p;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if(p-&gt;next) p-&gt;next-&gt;prior = s;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p-&gt;next = s;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// 删除结点 p（p 非头结点）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void erase(Node* p){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p-&gt;prior-&gt;next = p-&gt;next;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if(p-&gt;next) p-&gt;next-&gt;prior = p-&gt;prior;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delete p;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3" name="anim_r"/>
          <p:cNvSpPr/>
          <p:nvPr/>
        </p:nvSpPr>
        <p:spPr>
          <a:xfrm>
            <a:off x="8092440" y="1691640"/>
            <a:ext cx="3749039" cy="457200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anim_h"/>
          <p:cNvSpPr txBox="1"/>
          <p:nvPr/>
        </p:nvSpPr>
        <p:spPr>
          <a:xfrm>
            <a:off x="8275320" y="1874519"/>
            <a:ext cx="3429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对称之美</a:t>
            </a:r>
          </a:p>
        </p:txBody>
      </p:sp>
      <p:sp>
        <p:nvSpPr>
          <p:cNvPr id="25" name="anim_b"/>
          <p:cNvSpPr txBox="1"/>
          <p:nvPr/>
        </p:nvSpPr>
        <p:spPr>
          <a:xfrm>
            <a:off x="8229600" y="2331720"/>
            <a:ext cx="34747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删 p 不必找前驱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可向前遍历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代价：多一个指针域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空指针要处处防守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循环双向链表在操作系统、编辑器撤销链中常见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22" grpId="0" build="allAtOnce"/>
      <p:bldP spid="23" grpId="0" build="allAtOnce" animBg="1"/>
      <p:bldP spid="24" grpId="0" build="allAtOnce"/>
      <p:bldP spid="25" grpId="0" build="allAtOnce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对比与选型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2624328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262432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顺序表/链表对比页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31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顺序表  vs  链表</a:t>
            </a:r>
          </a:p>
        </p:txBody>
      </p:sp>
      <p:sp>
        <p:nvSpPr>
          <p:cNvPr id="16" name="chrome_tbl"/>
          <p:cNvSpPr/>
          <p:nvPr/>
        </p:nvSpPr>
        <p:spPr>
          <a:xfrm>
            <a:off x="320040" y="1664208"/>
            <a:ext cx="11521440" cy="461772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h0"/>
          <p:cNvSpPr txBox="1"/>
          <p:nvPr/>
        </p:nvSpPr>
        <p:spPr>
          <a:xfrm>
            <a:off x="457200" y="17830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18" name="anim_h1"/>
          <p:cNvSpPr txBox="1"/>
          <p:nvPr/>
        </p:nvSpPr>
        <p:spPr>
          <a:xfrm>
            <a:off x="4206240" y="17830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顺序表</a:t>
            </a:r>
          </a:p>
        </p:txBody>
      </p:sp>
      <p:sp>
        <p:nvSpPr>
          <p:cNvPr id="19" name="anim_h2"/>
          <p:cNvSpPr txBox="1"/>
          <p:nvPr/>
        </p:nvSpPr>
        <p:spPr>
          <a:xfrm>
            <a:off x="7955279" y="17830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链表</a:t>
            </a:r>
          </a:p>
        </p:txBody>
      </p:sp>
      <p:sp>
        <p:nvSpPr>
          <p:cNvPr id="20" name="anim_r0c0"/>
          <p:cNvSpPr txBox="1"/>
          <p:nvPr/>
        </p:nvSpPr>
        <p:spPr>
          <a:xfrm>
            <a:off x="457200" y="22402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存储</a:t>
            </a:r>
          </a:p>
        </p:txBody>
      </p:sp>
      <p:sp>
        <p:nvSpPr>
          <p:cNvPr id="21" name="anim_r0c1"/>
          <p:cNvSpPr txBox="1"/>
          <p:nvPr/>
        </p:nvSpPr>
        <p:spPr>
          <a:xfrm>
            <a:off x="4206240" y="22402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连续数组</a:t>
            </a:r>
          </a:p>
        </p:txBody>
      </p:sp>
      <p:sp>
        <p:nvSpPr>
          <p:cNvPr id="22" name="anim_r0c2"/>
          <p:cNvSpPr txBox="1"/>
          <p:nvPr/>
        </p:nvSpPr>
        <p:spPr>
          <a:xfrm>
            <a:off x="7955279" y="224028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结点+指针，可离散</a:t>
            </a:r>
          </a:p>
        </p:txBody>
      </p:sp>
      <p:sp>
        <p:nvSpPr>
          <p:cNvPr id="23" name="anim_r1c0"/>
          <p:cNvSpPr txBox="1"/>
          <p:nvPr/>
        </p:nvSpPr>
        <p:spPr>
          <a:xfrm>
            <a:off x="457200" y="2770632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访问</a:t>
            </a:r>
          </a:p>
        </p:txBody>
      </p:sp>
      <p:sp>
        <p:nvSpPr>
          <p:cNvPr id="24" name="anim_r1c1"/>
          <p:cNvSpPr txBox="1"/>
          <p:nvPr/>
        </p:nvSpPr>
        <p:spPr>
          <a:xfrm>
            <a:off x="4206240" y="2770632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随机 O(1)</a:t>
            </a:r>
          </a:p>
        </p:txBody>
      </p:sp>
      <p:sp>
        <p:nvSpPr>
          <p:cNvPr id="25" name="anim_r1c2"/>
          <p:cNvSpPr txBox="1"/>
          <p:nvPr/>
        </p:nvSpPr>
        <p:spPr>
          <a:xfrm>
            <a:off x="7955279" y="2770632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顺序 O(n)</a:t>
            </a:r>
          </a:p>
        </p:txBody>
      </p:sp>
      <p:sp>
        <p:nvSpPr>
          <p:cNvPr id="26" name="anim_r2c0"/>
          <p:cNvSpPr txBox="1"/>
          <p:nvPr/>
        </p:nvSpPr>
        <p:spPr>
          <a:xfrm>
            <a:off x="457200" y="3300984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按位插删</a:t>
            </a:r>
          </a:p>
        </p:txBody>
      </p:sp>
      <p:sp>
        <p:nvSpPr>
          <p:cNvPr id="27" name="anim_r2c1"/>
          <p:cNvSpPr txBox="1"/>
          <p:nvPr/>
        </p:nvSpPr>
        <p:spPr>
          <a:xfrm>
            <a:off x="4206240" y="3300984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O(n) 搬移</a:t>
            </a:r>
          </a:p>
        </p:txBody>
      </p:sp>
      <p:sp>
        <p:nvSpPr>
          <p:cNvPr id="28" name="anim_r2c2"/>
          <p:cNvSpPr txBox="1"/>
          <p:nvPr/>
        </p:nvSpPr>
        <p:spPr>
          <a:xfrm>
            <a:off x="7955279" y="3300984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O(n) 查找 + O(1) 改链</a:t>
            </a:r>
          </a:p>
        </p:txBody>
      </p:sp>
      <p:sp>
        <p:nvSpPr>
          <p:cNvPr id="29" name="anim_r3c0"/>
          <p:cNvSpPr txBox="1"/>
          <p:nvPr/>
        </p:nvSpPr>
        <p:spPr>
          <a:xfrm>
            <a:off x="457200" y="3831335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已知点插删</a:t>
            </a:r>
          </a:p>
        </p:txBody>
      </p:sp>
      <p:sp>
        <p:nvSpPr>
          <p:cNvPr id="30" name="anim_r3c1"/>
          <p:cNvSpPr txBox="1"/>
          <p:nvPr/>
        </p:nvSpPr>
        <p:spPr>
          <a:xfrm>
            <a:off x="4206240" y="3831335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仍要搬移</a:t>
            </a:r>
          </a:p>
        </p:txBody>
      </p:sp>
      <p:sp>
        <p:nvSpPr>
          <p:cNvPr id="31" name="anim_r3c2"/>
          <p:cNvSpPr txBox="1"/>
          <p:nvPr/>
        </p:nvSpPr>
        <p:spPr>
          <a:xfrm>
            <a:off x="7955279" y="3831335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O(1)（双向删更方便）</a:t>
            </a:r>
          </a:p>
        </p:txBody>
      </p:sp>
      <p:sp>
        <p:nvSpPr>
          <p:cNvPr id="32" name="anim_r4c0"/>
          <p:cNvSpPr txBox="1"/>
          <p:nvPr/>
        </p:nvSpPr>
        <p:spPr>
          <a:xfrm>
            <a:off x="457200" y="4361688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空间</a:t>
            </a:r>
          </a:p>
        </p:txBody>
      </p:sp>
      <p:sp>
        <p:nvSpPr>
          <p:cNvPr id="33" name="anim_r4c1"/>
          <p:cNvSpPr txBox="1"/>
          <p:nvPr/>
        </p:nvSpPr>
        <p:spPr>
          <a:xfrm>
            <a:off x="4206240" y="4361688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预留/扩容碎片少</a:t>
            </a:r>
          </a:p>
        </p:txBody>
      </p:sp>
      <p:sp>
        <p:nvSpPr>
          <p:cNvPr id="34" name="anim_r4c2"/>
          <p:cNvSpPr txBox="1"/>
          <p:nvPr/>
        </p:nvSpPr>
        <p:spPr>
          <a:xfrm>
            <a:off x="7955279" y="4361688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指针开销，无闲置槽</a:t>
            </a:r>
          </a:p>
        </p:txBody>
      </p:sp>
      <p:sp>
        <p:nvSpPr>
          <p:cNvPr id="35" name="anim_r5c0"/>
          <p:cNvSpPr txBox="1"/>
          <p:nvPr/>
        </p:nvSpPr>
        <p:spPr>
          <a:xfrm>
            <a:off x="457200" y="489204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缓存</a:t>
            </a:r>
          </a:p>
        </p:txBody>
      </p:sp>
      <p:sp>
        <p:nvSpPr>
          <p:cNvPr id="36" name="anim_r5c1"/>
          <p:cNvSpPr txBox="1"/>
          <p:nvPr/>
        </p:nvSpPr>
        <p:spPr>
          <a:xfrm>
            <a:off x="4206240" y="489204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友好，吞吐高</a:t>
            </a:r>
          </a:p>
        </p:txBody>
      </p:sp>
      <p:sp>
        <p:nvSpPr>
          <p:cNvPr id="37" name="anim_r5c2"/>
          <p:cNvSpPr txBox="1"/>
          <p:nvPr/>
        </p:nvSpPr>
        <p:spPr>
          <a:xfrm>
            <a:off x="7955279" y="4892040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跳转多，局部性差</a:t>
            </a:r>
          </a:p>
        </p:txBody>
      </p:sp>
      <p:sp>
        <p:nvSpPr>
          <p:cNvPr id="38" name="anim_r6c0"/>
          <p:cNvSpPr txBox="1"/>
          <p:nvPr/>
        </p:nvSpPr>
        <p:spPr>
          <a:xfrm>
            <a:off x="457200" y="5422392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39" name="anim_r6c1"/>
          <p:cNvSpPr txBox="1"/>
          <p:nvPr/>
        </p:nvSpPr>
        <p:spPr>
          <a:xfrm>
            <a:off x="4206240" y="5422392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查询多、表长稳</a:t>
            </a:r>
          </a:p>
        </p:txBody>
      </p:sp>
      <p:sp>
        <p:nvSpPr>
          <p:cNvPr id="40" name="anim_r6c2"/>
          <p:cNvSpPr txBox="1"/>
          <p:nvPr/>
        </p:nvSpPr>
        <p:spPr>
          <a:xfrm>
            <a:off x="7955279" y="5422392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增删多、长度波动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7" grpId="0" build="allAtOnce"/>
      <p:bldP spid="18" grpId="0" build="allAtOnce"/>
      <p:bldP spid="19" grpId="0" build="allAtOnce"/>
      <p:bldP spid="20" grpId="0" build="allAtOnce"/>
      <p:bldP spid="21" grpId="0" build="allAtOnce"/>
      <p:bldP spid="22" grpId="0" build="allAtOnce"/>
      <p:bldP spid="23" grpId="0" build="allAtOnce"/>
      <p:bldP spid="24" grpId="0" build="allAtOnce"/>
      <p:bldP spid="25" grpId="0" build="allAtOnce"/>
      <p:bldP spid="26" grpId="0" build="allAtOnce"/>
      <p:bldP spid="27" grpId="0" build="allAtOnce"/>
      <p:bldP spid="28" grpId="0" build="allAtOnce"/>
      <p:bldP spid="29" grpId="0" build="allAtOnce"/>
      <p:bldP spid="30" grpId="0" build="allAtOnce"/>
      <p:bldP spid="31" grpId="0" build="allAtOnce"/>
      <p:bldP spid="32" grpId="0" build="allAtOnce"/>
      <p:bldP spid="33" grpId="0" build="allAtOnce"/>
      <p:bldP spid="34" grpId="0" build="allAtOnce"/>
      <p:bldP spid="35" grpId="0" build="allAtOnce"/>
      <p:bldP spid="36" grpId="0" build="allAtOnce"/>
      <p:bldP spid="37" grpId="0" build="allAtOnce"/>
      <p:bldP spid="38" grpId="0" build="allAtOnce"/>
      <p:bldP spid="39" grpId="0" build="allAtOnce"/>
      <p:bldP spid="40" grpId="0" build="allAtOnce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对比与选型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3441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知识点页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32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因题选结构：一张决策清单</a:t>
            </a:r>
          </a:p>
        </p:txBody>
      </p:sp>
      <p:sp>
        <p:nvSpPr>
          <p:cNvPr id="16" name="anim_c0"/>
          <p:cNvSpPr/>
          <p:nvPr/>
        </p:nvSpPr>
        <p:spPr>
          <a:xfrm>
            <a:off x="320040" y="1691640"/>
            <a:ext cx="11521440" cy="7772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q0"/>
          <p:cNvSpPr txBox="1"/>
          <p:nvPr/>
        </p:nvSpPr>
        <p:spPr>
          <a:xfrm>
            <a:off x="502920" y="1764792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要频繁按下标读吗？</a:t>
            </a:r>
          </a:p>
        </p:txBody>
      </p:sp>
      <p:sp>
        <p:nvSpPr>
          <p:cNvPr id="18" name="anim_a0"/>
          <p:cNvSpPr txBox="1"/>
          <p:nvPr/>
        </p:nvSpPr>
        <p:spPr>
          <a:xfrm>
            <a:off x="502920" y="2075688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 → 顺序表 / vector      |      不要 → 考虑链表</a:t>
            </a:r>
          </a:p>
        </p:txBody>
      </p:sp>
      <p:sp>
        <p:nvSpPr>
          <p:cNvPr id="19" name="anim_c1"/>
          <p:cNvSpPr/>
          <p:nvPr/>
        </p:nvSpPr>
        <p:spPr>
          <a:xfrm>
            <a:off x="320040" y="2560320"/>
            <a:ext cx="11521440" cy="7772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q1"/>
          <p:cNvSpPr txBox="1"/>
          <p:nvPr/>
        </p:nvSpPr>
        <p:spPr>
          <a:xfrm>
            <a:off x="502920" y="2633472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中间增删是否极多？</a:t>
            </a:r>
          </a:p>
        </p:txBody>
      </p:sp>
      <p:sp>
        <p:nvSpPr>
          <p:cNvPr id="21" name="anim_a1"/>
          <p:cNvSpPr txBox="1"/>
          <p:nvPr/>
        </p:nvSpPr>
        <p:spPr>
          <a:xfrm>
            <a:off x="502920" y="2944368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是 → 链表（最好已知指针）      |      否 → 顺序表通常更快</a:t>
            </a:r>
          </a:p>
        </p:txBody>
      </p:sp>
      <p:sp>
        <p:nvSpPr>
          <p:cNvPr id="22" name="anim_c2"/>
          <p:cNvSpPr/>
          <p:nvPr/>
        </p:nvSpPr>
        <p:spPr>
          <a:xfrm>
            <a:off x="320040" y="3429000"/>
            <a:ext cx="11521440" cy="7772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nim_q2"/>
          <p:cNvSpPr txBox="1"/>
          <p:nvPr/>
        </p:nvSpPr>
        <p:spPr>
          <a:xfrm>
            <a:off x="502920" y="3502152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内存是否碎、表长难估？</a:t>
            </a:r>
          </a:p>
        </p:txBody>
      </p:sp>
      <p:sp>
        <p:nvSpPr>
          <p:cNvPr id="24" name="anim_a2"/>
          <p:cNvSpPr txBox="1"/>
          <p:nvPr/>
        </p:nvSpPr>
        <p:spPr>
          <a:xfrm>
            <a:off x="502920" y="3813048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是 → 链表按需申请      |      否 → 顺序表预分配</a:t>
            </a:r>
          </a:p>
        </p:txBody>
      </p:sp>
      <p:sp>
        <p:nvSpPr>
          <p:cNvPr id="25" name="anim_c3"/>
          <p:cNvSpPr/>
          <p:nvPr/>
        </p:nvSpPr>
        <p:spPr>
          <a:xfrm>
            <a:off x="320040" y="4297679"/>
            <a:ext cx="11521440" cy="7772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nim_q3"/>
          <p:cNvSpPr txBox="1"/>
          <p:nvPr/>
        </p:nvSpPr>
        <p:spPr>
          <a:xfrm>
            <a:off x="502920" y="4370831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需要向前遍历、任意删点？</a:t>
            </a:r>
          </a:p>
        </p:txBody>
      </p:sp>
      <p:sp>
        <p:nvSpPr>
          <p:cNvPr id="27" name="anim_a3"/>
          <p:cNvSpPr txBox="1"/>
          <p:nvPr/>
        </p:nvSpPr>
        <p:spPr>
          <a:xfrm>
            <a:off x="502920" y="4681727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是 → 双向链表      |      否 → 单链表足够</a:t>
            </a:r>
          </a:p>
        </p:txBody>
      </p:sp>
      <p:sp>
        <p:nvSpPr>
          <p:cNvPr id="28" name="anim_c4"/>
          <p:cNvSpPr/>
          <p:nvPr/>
        </p:nvSpPr>
        <p:spPr>
          <a:xfrm>
            <a:off x="320040" y="5166360"/>
            <a:ext cx="11521440" cy="7772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nim_q4"/>
          <p:cNvSpPr txBox="1"/>
          <p:nvPr/>
        </p:nvSpPr>
        <p:spPr>
          <a:xfrm>
            <a:off x="502920" y="5239512"/>
            <a:ext cx="111556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会不会环形轮转？</a:t>
            </a:r>
          </a:p>
        </p:txBody>
      </p:sp>
      <p:sp>
        <p:nvSpPr>
          <p:cNvPr id="30" name="anim_a4"/>
          <p:cNvSpPr txBox="1"/>
          <p:nvPr/>
        </p:nvSpPr>
        <p:spPr>
          <a:xfrm>
            <a:off x="502920" y="5550408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是 → 循环链表      |      否 → 用 nullptr 收尾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/>
      <p:bldP spid="19" grpId="0" build="allAtOnce" animBg="1"/>
      <p:bldP spid="20" grpId="0" build="allAtOnce"/>
      <p:bldP spid="21" grpId="0" build="allAtOnce"/>
      <p:bldP spid="22" grpId="0" build="allAtOnce" animBg="1"/>
      <p:bldP spid="23" grpId="0" build="allAtOnce"/>
      <p:bldP spid="24" grpId="0" build="allAtOnce"/>
      <p:bldP spid="25" grpId="0" build="allAtOnce" animBg="1"/>
      <p:bldP spid="26" grpId="0" build="allAtOnce"/>
      <p:bldP spid="27" grpId="0" build="allAtOnce"/>
      <p:bldP spid="28" grpId="0" build="allAtOnce" animBg="1"/>
      <p:bldP spid="29" grpId="0" build="allAtOnce"/>
      <p:bldP spid="30" grpId="0" build="allAtOnce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线性表应用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3441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知识点页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33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应用一：一元多项式的表示与相加</a:t>
            </a:r>
          </a:p>
        </p:txBody>
      </p:sp>
      <p:sp>
        <p:nvSpPr>
          <p:cNvPr id="16" name="anim_ex"/>
          <p:cNvSpPr/>
          <p:nvPr/>
        </p:nvSpPr>
        <p:spPr>
          <a:xfrm>
            <a:off x="320040" y="1691640"/>
            <a:ext cx="11521440" cy="128016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et"/>
          <p:cNvSpPr txBox="1"/>
          <p:nvPr/>
        </p:nvSpPr>
        <p:spPr>
          <a:xfrm>
            <a:off x="502920" y="1874519"/>
            <a:ext cx="1115568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P(x) = 7x^5 + 3x^2 + 1      与      Q(x) = 5x^5 − 3x^2 + 4x
结点只存非零项 (coef, exp)，按指数递减排列——稀疏多项式用链表最自然。</a:t>
            </a:r>
          </a:p>
        </p:txBody>
      </p:sp>
      <p:sp>
        <p:nvSpPr>
          <p:cNvPr id="18" name="anim_b"/>
          <p:cNvSpPr txBox="1"/>
          <p:nvPr/>
        </p:nvSpPr>
        <p:spPr>
          <a:xfrm>
            <a:off x="320040" y="3154680"/>
            <a:ext cx="11430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比较两指针指数：大者直接并入结果；相等则系数相加，和非 0 才生成新结点。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时间复杂度 O(m+n)，m、n 为非零项数，而不是最高次数。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顺序表也可存，但中间大量零项浪费空间，插入一项仍要移动。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类比：中药复方只记录实际药味与剂量，不会为“未用药物”留空位。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线性表应用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856232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856232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C++代码页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34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C++：多项式加法（指数递减的单链表）</a:t>
            </a:r>
          </a:p>
        </p:txBody>
      </p:sp>
      <p:sp>
        <p:nvSpPr>
          <p:cNvPr id="16" name="chrome_codebg"/>
          <p:cNvSpPr/>
          <p:nvPr/>
        </p:nvSpPr>
        <p:spPr>
          <a:xfrm>
            <a:off x="274320" y="1664208"/>
            <a:ext cx="8229600" cy="4617720"/>
          </a:xfrm>
          <a:prstGeom prst="roundRect">
            <a:avLst>
              <a:gd name="adj" fmla="val 8000"/>
            </a:avLst>
          </a:prstGeom>
          <a:solidFill>
            <a:srgbClr val="0B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rome_codebar"/>
          <p:cNvSpPr/>
          <p:nvPr/>
        </p:nvSpPr>
        <p:spPr>
          <a:xfrm>
            <a:off x="274320" y="1664208"/>
            <a:ext cx="8229600" cy="329184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hrome_codetitle"/>
          <p:cNvSpPr txBox="1"/>
          <p:nvPr/>
        </p:nvSpPr>
        <p:spPr>
          <a:xfrm>
            <a:off x="420624" y="1700784"/>
            <a:ext cx="2194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C++  ·  PolyAdd</a:t>
            </a:r>
          </a:p>
        </p:txBody>
      </p:sp>
      <p:sp>
        <p:nvSpPr>
          <p:cNvPr id="19" name="chrome_dot"/>
          <p:cNvSpPr/>
          <p:nvPr/>
        </p:nvSpPr>
        <p:spPr>
          <a:xfrm>
            <a:off x="7680960" y="1755648"/>
            <a:ext cx="128016" cy="128016"/>
          </a:xfrm>
          <a:prstGeom prst="ellipse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hrome_dot"/>
          <p:cNvSpPr/>
          <p:nvPr/>
        </p:nvSpPr>
        <p:spPr>
          <a:xfrm>
            <a:off x="7882128" y="1755648"/>
            <a:ext cx="128016" cy="128016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rome_dot"/>
          <p:cNvSpPr/>
          <p:nvPr/>
        </p:nvSpPr>
        <p:spPr>
          <a:xfrm>
            <a:off x="8083296" y="1755648"/>
            <a:ext cx="128016" cy="128016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im_code"/>
          <p:cNvSpPr txBox="1"/>
          <p:nvPr/>
        </p:nvSpPr>
        <p:spPr>
          <a:xfrm>
            <a:off x="438912" y="2048256"/>
            <a:ext cx="79552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struct Term { double coef; int exp; Term* next; };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Term* add(Term* A, Term* B){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auto* dummy = new Term{0,-1,nullptr};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auto* t = dummy;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while(A &amp;&amp; B){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if(A-&gt;exp &gt; B-&gt;exp){ t-&gt;next=A; A=A-&gt;next; t=t-&gt;next; 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else if(A-&gt;exp &lt; B-&gt;exp){ t-&gt;next=B; B=B-&gt;next; t=t-&gt;next; 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else {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    double s = A-&gt;coef + B-&gt;coef;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    if(s!=0){ t-&gt;next=new Term{s,A-&gt;exp,nullptr}; t=t-&gt;next; 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    A=A-&gt;next; B=B-&gt;next;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t-&gt;next = A ? A : B;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    return dummy-&gt;next;</a:t>
            </a:r>
          </a:p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200" b="0" i="0">
                <a:solidFill>
                  <a:srgbClr val="D6E8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3" name="anim_r"/>
          <p:cNvSpPr/>
          <p:nvPr/>
        </p:nvSpPr>
        <p:spPr>
          <a:xfrm>
            <a:off x="8686800" y="1664208"/>
            <a:ext cx="3154680" cy="461772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anim_h"/>
          <p:cNvSpPr txBox="1"/>
          <p:nvPr/>
        </p:nvSpPr>
        <p:spPr>
          <a:xfrm>
            <a:off x="8823960" y="1828800"/>
            <a:ext cx="2880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B020"/>
                </a:solidFill>
                <a:latin typeface="微软雅黑"/>
                <a:ea typeface="微软雅黑"/>
                <a:cs typeface="微软雅黑"/>
              </a:rPr>
              <a:t>注意</a:t>
            </a:r>
          </a:p>
        </p:txBody>
      </p:sp>
      <p:sp>
        <p:nvSpPr>
          <p:cNvPr id="25" name="anim_b"/>
          <p:cNvSpPr txBox="1"/>
          <p:nvPr/>
        </p:nvSpPr>
        <p:spPr>
          <a:xfrm>
            <a:off x="8778240" y="22860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dummy 简化头插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系数和为 0 要丢弃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剩余链一次接上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本示例未深拷贝，教学用需说明所有权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22" grpId="0" build="allAtOnce"/>
      <p:bldP spid="23" grpId="0" build="allAtOnce" animBg="1"/>
      <p:bldP spid="24" grpId="0" build="allAtOnce"/>
      <p:bldP spid="25" grpId="0" build="allAtOnce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线性表应用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算法讲解页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35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应用二：约瑟夫环与循环链表</a:t>
            </a:r>
          </a:p>
        </p:txBody>
      </p:sp>
      <p:sp>
        <p:nvSpPr>
          <p:cNvPr id="16" name="anim_b"/>
          <p:cNvSpPr txBox="1"/>
          <p:nvPr/>
        </p:nvSpPr>
        <p:spPr>
          <a:xfrm>
            <a:off x="320040" y="1691640"/>
            <a:ext cx="11430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n 人围成圈，从 1 报数到 m 出列，直至剩余 1 人（或全部出列次序）。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用循环链表：每次走 m−1 步，删除下一结点，O(n·m)。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用顺序表/数组模拟：删除需搬移或标记，注意模运算下标。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数学上有递推 f(1)=0, f(n)=(f(n-1)+m)%n，可 O(n) 求最后幸存者。</a:t>
            </a:r>
          </a:p>
        </p:txBody>
      </p:sp>
      <p:sp>
        <p:nvSpPr>
          <p:cNvPr id="17" name="anim_sz"/>
          <p:cNvSpPr/>
          <p:nvPr/>
        </p:nvSpPr>
        <p:spPr>
          <a:xfrm>
            <a:off x="320040" y="4754880"/>
            <a:ext cx="11521440" cy="146304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nim_szt"/>
          <p:cNvSpPr txBox="1"/>
          <p:nvPr/>
        </p:nvSpPr>
        <p:spPr>
          <a:xfrm>
            <a:off x="502920" y="4937760"/>
            <a:ext cx="1115568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思政延伸：规则透明、过程可追溯。医院叫号、疫苗接种队列、实验排班，都要求“谁进谁出”留痕。
循环结构服务公平轮转，但必须防止死循环——如同临床路径必须有出口与质控点。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/>
      <p:bldP spid="17" grpId="0" build="allAtOnce" animBg="1"/>
      <p:bldP spid="18" grpId="0" build="allAtOnce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课程思政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思政案例页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36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案例 A：数字处方与“辨证选构”</a:t>
            </a:r>
          </a:p>
        </p:txBody>
      </p:sp>
      <p:sp>
        <p:nvSpPr>
          <p:cNvPr id="16" name="anim_l"/>
          <p:cNvSpPr/>
          <p:nvPr/>
        </p:nvSpPr>
        <p:spPr>
          <a:xfrm>
            <a:off x="320040" y="1691640"/>
            <a:ext cx="5669280" cy="45262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lh"/>
          <p:cNvSpPr txBox="1"/>
          <p:nvPr/>
        </p:nvSpPr>
        <p:spPr>
          <a:xfrm>
            <a:off x="502920" y="1874519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8" name="anim_lb"/>
          <p:cNvSpPr txBox="1"/>
          <p:nvPr/>
        </p:nvSpPr>
        <p:spPr>
          <a:xfrm>
            <a:off x="502920" y="23317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医院 HIS 中，一张中药处方是药味的有序线性表：名称、炮制、剂量、先煎后下。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门诊审方以“按味查询、核对十八反”为主 → 顺序表/数组更合适。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住院过程中随时加味、减味、改剂量 → 链表或可动态的顺序表（vector）。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选错结构：高峰时段审方卡顿，会耽误患者用药。</a:t>
            </a:r>
          </a:p>
        </p:txBody>
      </p:sp>
      <p:sp>
        <p:nvSpPr>
          <p:cNvPr id="19" name="anim_r"/>
          <p:cNvSpPr/>
          <p:nvPr/>
        </p:nvSpPr>
        <p:spPr>
          <a:xfrm>
            <a:off x="6172200" y="1691640"/>
            <a:ext cx="5669280" cy="45262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rh"/>
          <p:cNvSpPr txBox="1"/>
          <p:nvPr/>
        </p:nvSpPr>
        <p:spPr>
          <a:xfrm>
            <a:off x="6355080" y="1874519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价值映射</a:t>
            </a:r>
          </a:p>
        </p:txBody>
      </p:sp>
      <p:sp>
        <p:nvSpPr>
          <p:cNvPr id="21" name="anim_rb"/>
          <p:cNvSpPr txBox="1"/>
          <p:nvPr/>
        </p:nvSpPr>
        <p:spPr>
          <a:xfrm>
            <a:off x="6355080" y="23317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因证选方：实证发表用麻黄汤，表虚用桂枝汤。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因题选结构：读多写少用顺序表，写多读少用链表。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社会主义核心价值观中的“敬业”：为临床选对结构，就是对生命负责。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健康中国：中医药信息化不是装饰，而是把经典智慧送进可运行的系统。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/>
      <p:bldP spid="19" grpId="0" build="allAtOnce" animBg="1"/>
      <p:bldP spid="20" grpId="0" build="allAtOnce"/>
      <p:bldP spid="21" grpId="0" build="allAtOnce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课程思政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思政案例页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37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案例 B：空指针、野指针与用药安全</a:t>
            </a:r>
          </a:p>
        </p:txBody>
      </p:sp>
      <p:sp>
        <p:nvSpPr>
          <p:cNvPr id="16" name="anim_tbl"/>
          <p:cNvSpPr/>
          <p:nvPr/>
        </p:nvSpPr>
        <p:spPr>
          <a:xfrm>
            <a:off x="320040" y="1691640"/>
            <a:ext cx="11521440" cy="324612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00"/>
          <p:cNvSpPr txBox="1"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程序风险</a:t>
            </a:r>
          </a:p>
        </p:txBody>
      </p:sp>
      <p:sp>
        <p:nvSpPr>
          <p:cNvPr id="18" name="anim_01"/>
          <p:cNvSpPr txBox="1"/>
          <p:nvPr/>
        </p:nvSpPr>
        <p:spPr>
          <a:xfrm>
            <a:off x="4251960" y="18288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临床类比</a:t>
            </a:r>
          </a:p>
        </p:txBody>
      </p:sp>
      <p:sp>
        <p:nvSpPr>
          <p:cNvPr id="19" name="anim_02"/>
          <p:cNvSpPr txBox="1"/>
          <p:nvPr/>
        </p:nvSpPr>
        <p:spPr>
          <a:xfrm>
            <a:off x="8046720" y="18288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职业要求</a:t>
            </a:r>
          </a:p>
        </p:txBody>
      </p:sp>
      <p:sp>
        <p:nvSpPr>
          <p:cNvPr id="20" name="anim_10"/>
          <p:cNvSpPr txBox="1"/>
          <p:nvPr/>
        </p:nvSpPr>
        <p:spPr>
          <a:xfrm>
            <a:off x="457200" y="230428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未判空就 p-&gt;next</a:t>
            </a:r>
          </a:p>
        </p:txBody>
      </p:sp>
      <p:sp>
        <p:nvSpPr>
          <p:cNvPr id="21" name="anim_11"/>
          <p:cNvSpPr txBox="1"/>
          <p:nvPr/>
        </p:nvSpPr>
        <p:spPr>
          <a:xfrm>
            <a:off x="4251960" y="230428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未辨虚实就峻下</a:t>
            </a:r>
          </a:p>
        </p:txBody>
      </p:sp>
      <p:sp>
        <p:nvSpPr>
          <p:cNvPr id="22" name="anim_12"/>
          <p:cNvSpPr txBox="1"/>
          <p:nvPr/>
        </p:nvSpPr>
        <p:spPr>
          <a:xfrm>
            <a:off x="8046720" y="2304288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先问诊，再动手</a:t>
            </a:r>
          </a:p>
        </p:txBody>
      </p:sp>
      <p:sp>
        <p:nvSpPr>
          <p:cNvPr id="23" name="anim_20"/>
          <p:cNvSpPr txBox="1"/>
          <p:nvPr/>
        </p:nvSpPr>
        <p:spPr>
          <a:xfrm>
            <a:off x="457200" y="2779776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new 后不 delete</a:t>
            </a:r>
          </a:p>
        </p:txBody>
      </p:sp>
      <p:sp>
        <p:nvSpPr>
          <p:cNvPr id="24" name="anim_21"/>
          <p:cNvSpPr txBox="1"/>
          <p:nvPr/>
        </p:nvSpPr>
        <p:spPr>
          <a:xfrm>
            <a:off x="4251960" y="2779776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开药后不交代煎法</a:t>
            </a:r>
          </a:p>
        </p:txBody>
      </p:sp>
      <p:sp>
        <p:nvSpPr>
          <p:cNvPr id="25" name="anim_22"/>
          <p:cNvSpPr txBox="1"/>
          <p:nvPr/>
        </p:nvSpPr>
        <p:spPr>
          <a:xfrm>
            <a:off x="8046720" y="2779776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有始有终</a:t>
            </a:r>
          </a:p>
        </p:txBody>
      </p:sp>
      <p:sp>
        <p:nvSpPr>
          <p:cNvPr id="26" name="anim_30"/>
          <p:cNvSpPr txBox="1"/>
          <p:nvPr/>
        </p:nvSpPr>
        <p:spPr>
          <a:xfrm>
            <a:off x="457200" y="3255264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断链丢失后继</a:t>
            </a:r>
          </a:p>
        </p:txBody>
      </p:sp>
      <p:sp>
        <p:nvSpPr>
          <p:cNvPr id="27" name="anim_31"/>
          <p:cNvSpPr txBox="1"/>
          <p:nvPr/>
        </p:nvSpPr>
        <p:spPr>
          <a:xfrm>
            <a:off x="4251960" y="3255264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漏抄一味药</a:t>
            </a:r>
          </a:p>
        </p:txBody>
      </p:sp>
      <p:sp>
        <p:nvSpPr>
          <p:cNvPr id="28" name="anim_32"/>
          <p:cNvSpPr txBox="1"/>
          <p:nvPr/>
        </p:nvSpPr>
        <p:spPr>
          <a:xfrm>
            <a:off x="8046720" y="3255264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交接完整</a:t>
            </a:r>
          </a:p>
        </p:txBody>
      </p:sp>
      <p:sp>
        <p:nvSpPr>
          <p:cNvPr id="29" name="anim_40"/>
          <p:cNvSpPr txBox="1"/>
          <p:nvPr/>
        </p:nvSpPr>
        <p:spPr>
          <a:xfrm>
            <a:off x="457200" y="3730752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越界写数组</a:t>
            </a:r>
          </a:p>
        </p:txBody>
      </p:sp>
      <p:sp>
        <p:nvSpPr>
          <p:cNvPr id="30" name="anim_41"/>
          <p:cNvSpPr txBox="1"/>
          <p:nvPr/>
        </p:nvSpPr>
        <p:spPr>
          <a:xfrm>
            <a:off x="4251960" y="3730752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剂量超安全范围</a:t>
            </a:r>
          </a:p>
        </p:txBody>
      </p:sp>
      <p:sp>
        <p:nvSpPr>
          <p:cNvPr id="31" name="anim_42"/>
          <p:cNvSpPr txBox="1"/>
          <p:nvPr/>
        </p:nvSpPr>
        <p:spPr>
          <a:xfrm>
            <a:off x="8046720" y="3730752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边界即红线</a:t>
            </a:r>
          </a:p>
        </p:txBody>
      </p:sp>
      <p:sp>
        <p:nvSpPr>
          <p:cNvPr id="32" name="anim_50"/>
          <p:cNvSpPr txBox="1"/>
          <p:nvPr/>
        </p:nvSpPr>
        <p:spPr>
          <a:xfrm>
            <a:off x="457200" y="42062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使用已释放结点</a:t>
            </a:r>
          </a:p>
        </p:txBody>
      </p:sp>
      <p:sp>
        <p:nvSpPr>
          <p:cNvPr id="33" name="anim_51"/>
          <p:cNvSpPr txBox="1"/>
          <p:nvPr/>
        </p:nvSpPr>
        <p:spPr>
          <a:xfrm>
            <a:off x="4251960" y="42062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过期药材入药</a:t>
            </a:r>
          </a:p>
        </p:txBody>
      </p:sp>
      <p:sp>
        <p:nvSpPr>
          <p:cNvPr id="34" name="anim_52"/>
          <p:cNvSpPr txBox="1"/>
          <p:nvPr/>
        </p:nvSpPr>
        <p:spPr>
          <a:xfrm>
            <a:off x="8046720" y="42062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生命周期管理</a:t>
            </a:r>
          </a:p>
        </p:txBody>
      </p:sp>
      <p:sp>
        <p:nvSpPr>
          <p:cNvPr id="35" name="anim_ft"/>
          <p:cNvSpPr txBox="1"/>
          <p:nvPr/>
        </p:nvSpPr>
        <p:spPr>
          <a:xfrm>
            <a:off x="411480" y="5074920"/>
            <a:ext cx="11338560" cy="1143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工匠精神不是口号：链表题少写一句 if(!p) 就可能在真实系统里让处方模块崩溃。
南中医培养的信息技术人才，既要懂结构，也要懂“如临病所”的敬畏。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3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/>
      <p:bldP spid="19" grpId="0" build="allAtOnce"/>
      <p:bldP spid="20" grpId="0" build="allAtOnce"/>
      <p:bldP spid="21" grpId="0" build="allAtOnce"/>
      <p:bldP spid="22" grpId="0" build="allAtOnce"/>
      <p:bldP spid="23" grpId="0" build="allAtOnce"/>
      <p:bldP spid="24" grpId="0" build="allAtOnce"/>
      <p:bldP spid="25" grpId="0" build="allAtOnce"/>
      <p:bldP spid="26" grpId="0" build="allAtOnce"/>
      <p:bldP spid="27" grpId="0" build="allAtOnce"/>
      <p:bldP spid="28" grpId="0" build="allAtOnce"/>
      <p:bldP spid="29" grpId="0" build="allAtOnce"/>
      <p:bldP spid="30" grpId="0" build="allAtOnce"/>
      <p:bldP spid="31" grpId="0" build="allAtOnce"/>
      <p:bldP spid="32" grpId="0" build="allAtOnce"/>
      <p:bldP spid="33" grpId="0" build="allAtOnce"/>
      <p:bldP spid="34" grpId="0" build="allAtOnce"/>
      <p:bldP spid="35" grpId="0" build="allAtOnce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前沿发展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前沿拓展页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38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前沿 A：跳表 Skip List——链表的“索引加速”</a:t>
            </a:r>
          </a:p>
        </p:txBody>
      </p:sp>
      <p:sp>
        <p:nvSpPr>
          <p:cNvPr id="16" name="anim_b"/>
          <p:cNvSpPr txBox="1"/>
          <p:nvPr/>
        </p:nvSpPr>
        <p:spPr>
          <a:xfrm>
            <a:off x="320040" y="1691640"/>
            <a:ext cx="114300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在有序链表上随机建多层索引，查找/插入期望 O(log n)，实现比平衡树简单。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Redis 的有序集合 ZSET 在元素较多时使用跳表，支撑排行榜、延时队列。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思想：用空间换时间，用“分层索引”弥补单链表不能二分的缺陷。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对标教材：仍是线性逻辑，只是增加了“高速公路”层。学生已具备理解它的全部前置知识。</a:t>
            </a:r>
          </a:p>
        </p:txBody>
      </p:sp>
      <p:sp>
        <p:nvSpPr>
          <p:cNvPr id="17" name="anim_n0"/>
          <p:cNvSpPr/>
          <p:nvPr/>
        </p:nvSpPr>
        <p:spPr>
          <a:xfrm>
            <a:off x="502920" y="47091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153D64"/>
          </a:solidFill>
          <a:ln w="15875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nim_n0_t"/>
          <p:cNvSpPr txBox="1"/>
          <p:nvPr/>
        </p:nvSpPr>
        <p:spPr>
          <a:xfrm>
            <a:off x="502920" y="4782312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anim_a0"/>
          <p:cNvSpPr/>
          <p:nvPr/>
        </p:nvSpPr>
        <p:spPr>
          <a:xfrm>
            <a:off x="2286000" y="4919472"/>
            <a:ext cx="365760" cy="164592"/>
          </a:xfrm>
          <a:prstGeom prst="right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n1"/>
          <p:cNvSpPr/>
          <p:nvPr/>
        </p:nvSpPr>
        <p:spPr>
          <a:xfrm>
            <a:off x="2697480" y="47091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153D64"/>
          </a:solidFill>
          <a:ln w="15875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im_n1_t"/>
          <p:cNvSpPr txBox="1"/>
          <p:nvPr/>
        </p:nvSpPr>
        <p:spPr>
          <a:xfrm>
            <a:off x="2697480" y="4782312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22" name="anim_a1"/>
          <p:cNvSpPr/>
          <p:nvPr/>
        </p:nvSpPr>
        <p:spPr>
          <a:xfrm>
            <a:off x="4480560" y="4919472"/>
            <a:ext cx="365760" cy="164592"/>
          </a:xfrm>
          <a:prstGeom prst="right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nim_n2"/>
          <p:cNvSpPr/>
          <p:nvPr/>
        </p:nvSpPr>
        <p:spPr>
          <a:xfrm>
            <a:off x="4892040" y="47091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153D64"/>
          </a:solidFill>
          <a:ln w="15875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anim_n2_t"/>
          <p:cNvSpPr txBox="1"/>
          <p:nvPr/>
        </p:nvSpPr>
        <p:spPr>
          <a:xfrm>
            <a:off x="4892040" y="4782312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25" name="anim_a2"/>
          <p:cNvSpPr/>
          <p:nvPr/>
        </p:nvSpPr>
        <p:spPr>
          <a:xfrm>
            <a:off x="6675120" y="4919472"/>
            <a:ext cx="365760" cy="164592"/>
          </a:xfrm>
          <a:prstGeom prst="right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nim_n3"/>
          <p:cNvSpPr/>
          <p:nvPr/>
        </p:nvSpPr>
        <p:spPr>
          <a:xfrm>
            <a:off x="7086599" y="47091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153D64"/>
          </a:solidFill>
          <a:ln w="15875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anim_n3_t"/>
          <p:cNvSpPr txBox="1"/>
          <p:nvPr/>
        </p:nvSpPr>
        <p:spPr>
          <a:xfrm>
            <a:off x="7086599" y="4782312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28" name="anim_a3"/>
          <p:cNvSpPr/>
          <p:nvPr/>
        </p:nvSpPr>
        <p:spPr>
          <a:xfrm>
            <a:off x="8869680" y="4919472"/>
            <a:ext cx="365760" cy="164592"/>
          </a:xfrm>
          <a:prstGeom prst="rightArrow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nim_n4"/>
          <p:cNvSpPr/>
          <p:nvPr/>
        </p:nvSpPr>
        <p:spPr>
          <a:xfrm>
            <a:off x="9281160" y="47091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153D64"/>
          </a:solidFill>
          <a:ln w="15875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anim_n4_t"/>
          <p:cNvSpPr txBox="1"/>
          <p:nvPr/>
        </p:nvSpPr>
        <p:spPr>
          <a:xfrm>
            <a:off x="9281160" y="4782312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31" name="anim_t0"/>
          <p:cNvSpPr/>
          <p:nvPr/>
        </p:nvSpPr>
        <p:spPr>
          <a:xfrm>
            <a:off x="502920" y="37947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1A4A72"/>
          </a:solidFill>
          <a:ln w="15875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anim_t0_t"/>
          <p:cNvSpPr txBox="1"/>
          <p:nvPr/>
        </p:nvSpPr>
        <p:spPr>
          <a:xfrm>
            <a:off x="502920" y="3867912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3" name="anim_t1"/>
          <p:cNvSpPr/>
          <p:nvPr/>
        </p:nvSpPr>
        <p:spPr>
          <a:xfrm>
            <a:off x="4892040" y="37947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1A4A72"/>
          </a:solidFill>
          <a:ln w="15875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anim_t1_t"/>
          <p:cNvSpPr txBox="1"/>
          <p:nvPr/>
        </p:nvSpPr>
        <p:spPr>
          <a:xfrm>
            <a:off x="4892040" y="3867912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35" name="anim_t2"/>
          <p:cNvSpPr/>
          <p:nvPr/>
        </p:nvSpPr>
        <p:spPr>
          <a:xfrm>
            <a:off x="9281160" y="3794760"/>
            <a:ext cx="1737360" cy="640080"/>
          </a:xfrm>
          <a:prstGeom prst="roundRect">
            <a:avLst>
              <a:gd name="adj" fmla="val 12000"/>
            </a:avLst>
          </a:prstGeom>
          <a:solidFill>
            <a:srgbClr val="1A4A72"/>
          </a:solidFill>
          <a:ln w="15875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anim_t2_t"/>
          <p:cNvSpPr txBox="1"/>
          <p:nvPr/>
        </p:nvSpPr>
        <p:spPr>
          <a:xfrm>
            <a:off x="9281160" y="3867912"/>
            <a:ext cx="1737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37" name="anim_cap"/>
          <p:cNvSpPr txBox="1"/>
          <p:nvPr/>
        </p:nvSpPr>
        <p:spPr>
          <a:xfrm>
            <a:off x="320040" y="5486400"/>
            <a:ext cx="11430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上层少结点、大步跳；下层是完整有序链表。查找 19：3→12→25 回退到 12，再在底层走到 19。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5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5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5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3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35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35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/>
      <p:bldP spid="17" grpId="0" build="allAtOnce" animBg="1"/>
      <p:bldP spid="18" grpId="0" build="allAtOnce"/>
      <p:bldP spid="19" grpId="0" build="allAtOnce" animBg="1"/>
      <p:bldP spid="20" grpId="0" build="allAtOnce" animBg="1"/>
      <p:bldP spid="21" grpId="0" build="allAtOnce"/>
      <p:bldP spid="22" grpId="0" build="allAtOnce" animBg="1"/>
      <p:bldP spid="23" grpId="0" build="allAtOnce" animBg="1"/>
      <p:bldP spid="24" grpId="0" build="allAtOnce"/>
      <p:bldP spid="25" grpId="0" build="allAtOnce" animBg="1"/>
      <p:bldP spid="26" grpId="0" build="allAtOnce" animBg="1"/>
      <p:bldP spid="27" grpId="0" build="allAtOnce"/>
      <p:bldP spid="28" grpId="0" build="allAtOnce" animBg="1"/>
      <p:bldP spid="29" grpId="0" build="allAtOnce" animBg="1"/>
      <p:bldP spid="30" grpId="0" build="allAtOnce"/>
      <p:bldP spid="31" grpId="0" build="allAtOnce" animBg="1"/>
      <p:bldP spid="32" grpId="0" build="allAtOnce"/>
      <p:bldP spid="33" grpId="0" build="allAtOnce" animBg="1"/>
      <p:bldP spid="34" grpId="0" build="allAtOnce"/>
      <p:bldP spid="35" grpId="0" build="allAtOnce" animBg="1"/>
      <p:bldP spid="36" grpId="0" build="allAtOnce"/>
      <p:bldP spid="37" grpId="0" build="allAtOnce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前沿发展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前沿拓展页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39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前沿 B：C++ STL 与无锁链表</a:t>
            </a:r>
          </a:p>
        </p:txBody>
      </p:sp>
      <p:sp>
        <p:nvSpPr>
          <p:cNvPr id="16" name="anim_l"/>
          <p:cNvSpPr/>
          <p:nvPr/>
        </p:nvSpPr>
        <p:spPr>
          <a:xfrm>
            <a:off x="320040" y="1691640"/>
            <a:ext cx="5669280" cy="45262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lh"/>
          <p:cNvSpPr txBox="1"/>
          <p:nvPr/>
        </p:nvSpPr>
        <p:spPr>
          <a:xfrm>
            <a:off x="502920" y="1874519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std::vector / std::list</a:t>
            </a:r>
          </a:p>
        </p:txBody>
      </p:sp>
      <p:sp>
        <p:nvSpPr>
          <p:cNvPr id="18" name="anim_lb"/>
          <p:cNvSpPr txBox="1"/>
          <p:nvPr/>
        </p:nvSpPr>
        <p:spPr>
          <a:xfrm>
            <a:off x="502920" y="23317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vector ≈ 可扩容顺序表，遍历与缓存极强，是默认首选。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list ≈ 双向链表，插入不使迭代器失效（除被删者），但遍历慢。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现代 C++ 建议：先 vector，量过了再剖析；不要“感觉上该用链表”。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deque、forward_list 是顺序与单向链的工业变体，可课后查阅。</a:t>
            </a:r>
          </a:p>
        </p:txBody>
      </p:sp>
      <p:sp>
        <p:nvSpPr>
          <p:cNvPr id="19" name="anim_r"/>
          <p:cNvSpPr/>
          <p:nvPr/>
        </p:nvSpPr>
        <p:spPr>
          <a:xfrm>
            <a:off x="6172200" y="1691640"/>
            <a:ext cx="5669280" cy="45262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rh"/>
          <p:cNvSpPr txBox="1"/>
          <p:nvPr/>
        </p:nvSpPr>
        <p:spPr>
          <a:xfrm>
            <a:off x="6355080" y="1874519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高并发：无锁 / RCU 链表</a:t>
            </a:r>
          </a:p>
        </p:txBody>
      </p:sp>
      <p:sp>
        <p:nvSpPr>
          <p:cNvPr id="21" name="anim_rb"/>
          <p:cNvSpPr txBox="1"/>
          <p:nvPr/>
        </p:nvSpPr>
        <p:spPr>
          <a:xfrm>
            <a:off x="6355080" y="23317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内核与数据库用 CAS 更新 next 指针，避免粗粒度锁。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Linux RCU 让读侧几乎无锁，适合读多写少的路由表、配置表。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难度超过本课，但要知道：链表在系统软件里仍是核心构件。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思政：关键基础设施的代码，容错与并发安全关系到公共服务。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/>
      <p:bldP spid="19" grpId="0" build="allAtOnce" animBg="1"/>
      <p:bldP spid="20" grpId="0" build="allAtOnce"/>
      <p:bldP spid="21" grpId="0" build="allAtOnce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前沿发展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前沿拓展页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40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前沿 C：数字中医药中的线性数据</a:t>
            </a:r>
          </a:p>
        </p:txBody>
      </p:sp>
      <p:sp>
        <p:nvSpPr>
          <p:cNvPr id="16" name="anim_c0"/>
          <p:cNvSpPr/>
          <p:nvPr/>
        </p:nvSpPr>
        <p:spPr>
          <a:xfrm>
            <a:off x="320040" y="1691640"/>
            <a:ext cx="5715000" cy="210312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h0"/>
          <p:cNvSpPr txBox="1"/>
          <p:nvPr/>
        </p:nvSpPr>
        <p:spPr>
          <a:xfrm>
            <a:off x="521207" y="1874520"/>
            <a:ext cx="5349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电子病历时间轴</a:t>
            </a:r>
          </a:p>
        </p:txBody>
      </p:sp>
      <p:sp>
        <p:nvSpPr>
          <p:cNvPr id="18" name="anim_b0"/>
          <p:cNvSpPr txBox="1"/>
          <p:nvPr/>
        </p:nvSpPr>
        <p:spPr>
          <a:xfrm>
            <a:off x="521207" y="2377440"/>
            <a:ext cx="5349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每次就诊、每次改方是线性事件流。时序数据库、事件溯源本质是带时间戳的线性表。</a:t>
            </a:r>
          </a:p>
        </p:txBody>
      </p:sp>
      <p:sp>
        <p:nvSpPr>
          <p:cNvPr id="19" name="anim_c1"/>
          <p:cNvSpPr/>
          <p:nvPr/>
        </p:nvSpPr>
        <p:spPr>
          <a:xfrm>
            <a:off x="6217920" y="1691640"/>
            <a:ext cx="5715000" cy="210312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h1"/>
          <p:cNvSpPr txBox="1"/>
          <p:nvPr/>
        </p:nvSpPr>
        <p:spPr>
          <a:xfrm>
            <a:off x="6419088" y="1874520"/>
            <a:ext cx="5349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真实世界研究</a:t>
            </a:r>
          </a:p>
        </p:txBody>
      </p:sp>
      <p:sp>
        <p:nvSpPr>
          <p:cNvPr id="21" name="anim_b1"/>
          <p:cNvSpPr txBox="1"/>
          <p:nvPr/>
        </p:nvSpPr>
        <p:spPr>
          <a:xfrm>
            <a:off x="6419088" y="2377440"/>
            <a:ext cx="5349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纵向队列随访记录为线性；需要稳定的位序与缺失值处理，才能做疗效评价。</a:t>
            </a:r>
          </a:p>
        </p:txBody>
      </p:sp>
      <p:sp>
        <p:nvSpPr>
          <p:cNvPr id="22" name="anim_c2"/>
          <p:cNvSpPr/>
          <p:nvPr/>
        </p:nvSpPr>
        <p:spPr>
          <a:xfrm>
            <a:off x="320040" y="3931920"/>
            <a:ext cx="5715000" cy="210312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nim_h2"/>
          <p:cNvSpPr txBox="1"/>
          <p:nvPr/>
        </p:nvSpPr>
        <p:spPr>
          <a:xfrm>
            <a:off x="521207" y="4114800"/>
            <a:ext cx="5349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知识图谱底座</a:t>
            </a:r>
          </a:p>
        </p:txBody>
      </p:sp>
      <p:sp>
        <p:nvSpPr>
          <p:cNvPr id="24" name="anim_b2"/>
          <p:cNvSpPr txBox="1"/>
          <p:nvPr/>
        </p:nvSpPr>
        <p:spPr>
          <a:xfrm>
            <a:off x="521207" y="4617720"/>
            <a:ext cx="5349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配伍网络是图，但每张处方、每条古籍条文仍先被抽成线性记录，再抽取三元组。</a:t>
            </a:r>
          </a:p>
        </p:txBody>
      </p:sp>
      <p:sp>
        <p:nvSpPr>
          <p:cNvPr id="25" name="anim_c3"/>
          <p:cNvSpPr/>
          <p:nvPr/>
        </p:nvSpPr>
        <p:spPr>
          <a:xfrm>
            <a:off x="6217920" y="3931920"/>
            <a:ext cx="5715000" cy="210312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nim_h3"/>
          <p:cNvSpPr txBox="1"/>
          <p:nvPr/>
        </p:nvSpPr>
        <p:spPr>
          <a:xfrm>
            <a:off x="6419088" y="4114800"/>
            <a:ext cx="53492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智能审方</a:t>
            </a:r>
          </a:p>
        </p:txBody>
      </p:sp>
      <p:sp>
        <p:nvSpPr>
          <p:cNvPr id="27" name="anim_b3"/>
          <p:cNvSpPr txBox="1"/>
          <p:nvPr/>
        </p:nvSpPr>
        <p:spPr>
          <a:xfrm>
            <a:off x="6419088" y="4617720"/>
            <a:ext cx="534924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十八反、十九畏、妊娠禁忌是规则表（宜顺序存储）；动态医嘱链是链表式工作流。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/>
      <p:bldP spid="19" grpId="0" build="allAtOnce" animBg="1"/>
      <p:bldP spid="20" grpId="0" build="allAtOnce"/>
      <p:bldP spid="21" grpId="0" build="allAtOnce"/>
      <p:bldP spid="22" grpId="0" build="allAtOnce" animBg="1"/>
      <p:bldP spid="23" grpId="0" build="allAtOnce"/>
      <p:bldP spid="24" grpId="0" build="allAtOnce"/>
      <p:bldP spid="25" grpId="0" build="allAtOnce" animBg="1"/>
      <p:bldP spid="26" grpId="0" build="allAtOnce"/>
      <p:bldP spid="27" grpId="0" build="allAtOnce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易错与调试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344168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34416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知识点页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41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本章高频易错点（考试 + 上机）</a:t>
            </a:r>
          </a:p>
        </p:txBody>
      </p:sp>
      <p:sp>
        <p:nvSpPr>
          <p:cNvPr id="16" name="anim_b"/>
          <p:cNvSpPr txBox="1"/>
          <p:nvPr/>
        </p:nvSpPr>
        <p:spPr>
          <a:xfrm>
            <a:off x="320040" y="16916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插入顺序表时从前向后搬移，造成元素重复覆盖。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链表先 p-&gt;next=s 再 s-&gt;next=p-&gt;next，后继丢失。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循环链表仍用 nullptr 判断结束，死循环。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释放结点后继续使用 q-&gt;next（释放后使用）。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位序 i 与下标 i-1 混用，Off-by-one。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忘记头结点，空表插入写出两套互相矛盾的代码。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双向链表只改 next 不改 prior，形成半残链接。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把 list 当 vector 用下标，或在热循环里用 list 遍历。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总结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本章总结页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42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本章知识网络</a:t>
            </a:r>
          </a:p>
        </p:txBody>
      </p:sp>
      <p:sp>
        <p:nvSpPr>
          <p:cNvPr id="16" name="anim_n0"/>
          <p:cNvSpPr/>
          <p:nvPr/>
        </p:nvSpPr>
        <p:spPr>
          <a:xfrm>
            <a:off x="365760" y="182880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53D64"/>
          </a:solidFill>
          <a:ln w="14604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t0"/>
          <p:cNvSpPr txBox="1"/>
          <p:nvPr/>
        </p:nvSpPr>
        <p:spPr>
          <a:xfrm>
            <a:off x="365760" y="2121408"/>
            <a:ext cx="3566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线性表 ADT</a:t>
            </a:r>
          </a:p>
        </p:txBody>
      </p:sp>
      <p:sp>
        <p:nvSpPr>
          <p:cNvPr id="18" name="anim_n1"/>
          <p:cNvSpPr/>
          <p:nvPr/>
        </p:nvSpPr>
        <p:spPr>
          <a:xfrm>
            <a:off x="4114800" y="182880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53D64"/>
          </a:solidFill>
          <a:ln w="14604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_t1"/>
          <p:cNvSpPr txBox="1"/>
          <p:nvPr/>
        </p:nvSpPr>
        <p:spPr>
          <a:xfrm>
            <a:off x="4114800" y="2121408"/>
            <a:ext cx="3566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顺序存储</a:t>
            </a:r>
          </a:p>
        </p:txBody>
      </p:sp>
      <p:sp>
        <p:nvSpPr>
          <p:cNvPr id="20" name="anim_n2"/>
          <p:cNvSpPr/>
          <p:nvPr/>
        </p:nvSpPr>
        <p:spPr>
          <a:xfrm>
            <a:off x="7955279" y="182880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53D64"/>
          </a:solidFill>
          <a:ln w="14604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im_t2"/>
          <p:cNvSpPr txBox="1"/>
          <p:nvPr/>
        </p:nvSpPr>
        <p:spPr>
          <a:xfrm>
            <a:off x="7955279" y="2121408"/>
            <a:ext cx="3566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链式存储</a:t>
            </a:r>
          </a:p>
        </p:txBody>
      </p:sp>
      <p:sp>
        <p:nvSpPr>
          <p:cNvPr id="22" name="anim_n3"/>
          <p:cNvSpPr/>
          <p:nvPr/>
        </p:nvSpPr>
        <p:spPr>
          <a:xfrm>
            <a:off x="365760" y="338328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53D64"/>
          </a:solidFill>
          <a:ln w="14604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nim_t3"/>
          <p:cNvSpPr txBox="1"/>
          <p:nvPr/>
        </p:nvSpPr>
        <p:spPr>
          <a:xfrm>
            <a:off x="365760" y="3675888"/>
            <a:ext cx="3566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插入/删除 O(n)</a:t>
            </a:r>
          </a:p>
        </p:txBody>
      </p:sp>
      <p:sp>
        <p:nvSpPr>
          <p:cNvPr id="24" name="anim_n4"/>
          <p:cNvSpPr/>
          <p:nvPr/>
        </p:nvSpPr>
        <p:spPr>
          <a:xfrm>
            <a:off x="4114800" y="338328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53D64"/>
          </a:solidFill>
          <a:ln w="14604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nim_t4"/>
          <p:cNvSpPr txBox="1"/>
          <p:nvPr/>
        </p:nvSpPr>
        <p:spPr>
          <a:xfrm>
            <a:off x="4114800" y="3675888"/>
            <a:ext cx="3566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随机访问 O(1)</a:t>
            </a:r>
          </a:p>
        </p:txBody>
      </p:sp>
      <p:sp>
        <p:nvSpPr>
          <p:cNvPr id="26" name="anim_n5"/>
          <p:cNvSpPr/>
          <p:nvPr/>
        </p:nvSpPr>
        <p:spPr>
          <a:xfrm>
            <a:off x="7955279" y="338328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53D64"/>
          </a:solidFill>
          <a:ln w="14604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anim_t5"/>
          <p:cNvSpPr txBox="1"/>
          <p:nvPr/>
        </p:nvSpPr>
        <p:spPr>
          <a:xfrm>
            <a:off x="7955279" y="3675888"/>
            <a:ext cx="3566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改链 O(1)</a:t>
            </a:r>
          </a:p>
        </p:txBody>
      </p:sp>
      <p:sp>
        <p:nvSpPr>
          <p:cNvPr id="28" name="anim_n6"/>
          <p:cNvSpPr/>
          <p:nvPr/>
        </p:nvSpPr>
        <p:spPr>
          <a:xfrm>
            <a:off x="365760" y="493776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53D64"/>
          </a:solidFill>
          <a:ln w="14604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nim_t6"/>
          <p:cNvSpPr txBox="1"/>
          <p:nvPr/>
        </p:nvSpPr>
        <p:spPr>
          <a:xfrm>
            <a:off x="365760" y="5230368"/>
            <a:ext cx="3566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多项式 / 约瑟夫</a:t>
            </a:r>
          </a:p>
        </p:txBody>
      </p:sp>
      <p:sp>
        <p:nvSpPr>
          <p:cNvPr id="30" name="anim_n7"/>
          <p:cNvSpPr/>
          <p:nvPr/>
        </p:nvSpPr>
        <p:spPr>
          <a:xfrm>
            <a:off x="4114800" y="493776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53D64"/>
          </a:solidFill>
          <a:ln w="14604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nim_t7"/>
          <p:cNvSpPr txBox="1"/>
          <p:nvPr/>
        </p:nvSpPr>
        <p:spPr>
          <a:xfrm>
            <a:off x="4114800" y="5230368"/>
            <a:ext cx="3566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因题选结构</a:t>
            </a:r>
          </a:p>
        </p:txBody>
      </p:sp>
      <p:sp>
        <p:nvSpPr>
          <p:cNvPr id="32" name="anim_n8"/>
          <p:cNvSpPr/>
          <p:nvPr/>
        </p:nvSpPr>
        <p:spPr>
          <a:xfrm>
            <a:off x="7955279" y="4937760"/>
            <a:ext cx="3566160" cy="1051560"/>
          </a:xfrm>
          <a:prstGeom prst="roundRect">
            <a:avLst>
              <a:gd name="adj" fmla="val 10000"/>
            </a:avLst>
          </a:prstGeom>
          <a:solidFill>
            <a:srgbClr val="153D64"/>
          </a:solidFill>
          <a:ln w="14604">
            <a:solidFill>
              <a:srgbClr val="3EC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nim_t8"/>
          <p:cNvSpPr txBox="1"/>
          <p:nvPr/>
        </p:nvSpPr>
        <p:spPr>
          <a:xfrm>
            <a:off x="7955279" y="5230368"/>
            <a:ext cx="3566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跳表 · STL · 数字中医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5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5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0"/>
                                        <p:tgtEl>
                                          <p:spTgt spid="3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5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 animBg="1"/>
      <p:bldP spid="19" grpId="0" build="allAtOnce"/>
      <p:bldP spid="20" grpId="0" build="allAtOnce" animBg="1"/>
      <p:bldP spid="21" grpId="0" build="allAtOnce"/>
      <p:bldP spid="22" grpId="0" build="allAtOnce" animBg="1"/>
      <p:bldP spid="23" grpId="0" build="allAtOnce"/>
      <p:bldP spid="24" grpId="0" build="allAtOnce" animBg="1"/>
      <p:bldP spid="25" grpId="0" build="allAtOnce"/>
      <p:bldP spid="26" grpId="0" build="allAtOnce" animBg="1"/>
      <p:bldP spid="27" grpId="0" build="allAtOnce"/>
      <p:bldP spid="28" grpId="0" build="allAtOnce" animBg="1"/>
      <p:bldP spid="29" grpId="0" build="allAtOnce"/>
      <p:bldP spid="30" grpId="0" build="allAtOnce" animBg="1"/>
      <p:bldP spid="31" grpId="0" build="allAtOnce"/>
      <p:bldP spid="32" grpId="0" build="allAtOnce" animBg="1"/>
      <p:bldP spid="33" grpId="0" build="allAtOnce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达成检测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本章总结页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43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分钟自测（可随堂举手）</a:t>
            </a:r>
          </a:p>
        </p:txBody>
      </p:sp>
      <p:sp>
        <p:nvSpPr>
          <p:cNvPr id="16" name="anim_b"/>
          <p:cNvSpPr txBox="1"/>
          <p:nvPr/>
        </p:nvSpPr>
        <p:spPr>
          <a:xfrm>
            <a:off x="320040" y="16916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7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顺序表在位序 1 插入，需要移动几个元素？（设表长 n）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7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带头结点单链表判空的条件是什么？循环链表呢？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7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已知指针 p，在其后插入的两行代码顺序是？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7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为什么说链表的按位插入仍是 O(n)？优势到底在哪？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7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电子病历“按时间追加就诊记录”更像顺序表尾插还是中间插链？为何？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作业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本章总结页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44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课后作业与思考</a:t>
            </a:r>
          </a:p>
        </p:txBody>
      </p:sp>
      <p:sp>
        <p:nvSpPr>
          <p:cNvPr id="16" name="anim_l"/>
          <p:cNvSpPr/>
          <p:nvPr/>
        </p:nvSpPr>
        <p:spPr>
          <a:xfrm>
            <a:off x="320040" y="1691640"/>
            <a:ext cx="5669280" cy="45262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lh"/>
          <p:cNvSpPr txBox="1"/>
          <p:nvPr/>
        </p:nvSpPr>
        <p:spPr>
          <a:xfrm>
            <a:off x="502920" y="1874519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C6F0"/>
                </a:solidFill>
                <a:latin typeface="微软雅黑"/>
                <a:ea typeface="微软雅黑"/>
                <a:cs typeface="微软雅黑"/>
              </a:rPr>
              <a:t>必做</a:t>
            </a:r>
          </a:p>
        </p:txBody>
      </p:sp>
      <p:sp>
        <p:nvSpPr>
          <p:cNvPr id="18" name="anim_lb"/>
          <p:cNvSpPr txBox="1"/>
          <p:nvPr/>
        </p:nvSpPr>
        <p:spPr>
          <a:xfrm>
            <a:off x="502920" y="23317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实现 SeqList 的 insert / remove / locate，并测试表头、表中、表尾。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实现带头结点单链表，含析构，用 Valgrind 或调试器确认无泄漏。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画图完成双向链表插入四步，拍照提交。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完成教材多项式加法或等价练习题。</a:t>
            </a:r>
          </a:p>
        </p:txBody>
      </p:sp>
      <p:sp>
        <p:nvSpPr>
          <p:cNvPr id="19" name="anim_r"/>
          <p:cNvSpPr/>
          <p:nvPr/>
        </p:nvSpPr>
        <p:spPr>
          <a:xfrm>
            <a:off x="6172200" y="1691640"/>
            <a:ext cx="5669280" cy="4526280"/>
          </a:xfrm>
          <a:prstGeom prst="roundRect">
            <a:avLst>
              <a:gd name="adj" fmla="val 6000"/>
            </a:avLst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rh"/>
          <p:cNvSpPr txBox="1"/>
          <p:nvPr/>
        </p:nvSpPr>
        <p:spPr>
          <a:xfrm>
            <a:off x="6355080" y="1874519"/>
            <a:ext cx="5303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选做 / 思政短文</a:t>
            </a:r>
          </a:p>
        </p:txBody>
      </p:sp>
      <p:sp>
        <p:nvSpPr>
          <p:cNvPr id="21" name="anim_rb"/>
          <p:cNvSpPr txBox="1"/>
          <p:nvPr/>
        </p:nvSpPr>
        <p:spPr>
          <a:xfrm>
            <a:off x="6355080" y="233172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阅读 Redis ZSET 跳表资料，写 300 字原理摘要。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调研一家中医院 HIS：处方明细更像哪种线性表？论证 400 字。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比较 vector 与 list 在万级数据遍历的耗时，提交图表。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短文题目：《从桂枝汤加减，谈数据结构的取舍》。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 animBg="1"/>
      <p:bldP spid="17" grpId="0" build="allAtOnce"/>
      <p:bldP spid="18" grpId="0" build="allAtOnce"/>
      <p:bldP spid="19" grpId="0" build="allAtOnce" animBg="1"/>
      <p:bldP spid="20" grpId="0" build="allAtOnce"/>
      <p:bldP spid="21" grpId="0" build="allAtOnce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chrome_header"/>
          <p:cNvSpPr/>
          <p:nvPr/>
        </p:nvSpPr>
        <p:spPr>
          <a:xfrm>
            <a:off x="0" y="54864"/>
            <a:ext cx="12191695" cy="713232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hrome_hline"/>
          <p:cNvSpPr/>
          <p:nvPr/>
        </p:nvSpPr>
        <p:spPr>
          <a:xfrm>
            <a:off x="64008" y="749808"/>
            <a:ext cx="12127687" cy="13716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hrome_school"/>
          <p:cNvSpPr txBox="1"/>
          <p:nvPr/>
        </p:nvSpPr>
        <p:spPr>
          <a:xfrm>
            <a:off x="256032" y="109728"/>
            <a:ext cx="69494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南京中医药大学  ·  数据结构</a:t>
            </a:r>
          </a:p>
        </p:txBody>
      </p:sp>
      <p:sp>
        <p:nvSpPr>
          <p:cNvPr id="8" name="chrome_sect"/>
          <p:cNvSpPr txBox="1"/>
          <p:nvPr/>
        </p:nvSpPr>
        <p:spPr>
          <a:xfrm>
            <a:off x="256032" y="365760"/>
            <a:ext cx="7498079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第二章 线性表  |  文献</a:t>
            </a:r>
          </a:p>
        </p:txBody>
      </p:sp>
      <p:sp>
        <p:nvSpPr>
          <p:cNvPr id="9" name="chrome_kind"/>
          <p:cNvSpPr/>
          <p:nvPr/>
        </p:nvSpPr>
        <p:spPr>
          <a:xfrm>
            <a:off x="8275320" y="256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hrome_kind_t"/>
          <p:cNvSpPr txBox="1"/>
          <p:nvPr/>
        </p:nvSpPr>
        <p:spPr>
          <a:xfrm>
            <a:off x="8275320" y="256032"/>
            <a:ext cx="16002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本章总结页</a:t>
            </a:r>
          </a:p>
        </p:txBody>
      </p:sp>
      <p:pic>
        <p:nvPicPr>
          <p:cNvPr id="11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91440"/>
            <a:ext cx="972575" cy="640080"/>
          </a:xfrm>
          <a:prstGeom prst="rect">
            <a:avLst/>
          </a:prstGeom>
        </p:spPr>
      </p:pic>
      <p:sp>
        <p:nvSpPr>
          <p:cNvPr id="12" name="chrome_footer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7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chrome_ft1"/>
          <p:cNvSpPr txBox="1"/>
          <p:nvPr/>
        </p:nvSpPr>
        <p:spPr>
          <a:xfrm>
            <a:off x="256032" y="6565392"/>
            <a:ext cx="77724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本科课件  ·  可放映演示  ·  含课程思政与前沿拓展</a:t>
            </a:r>
          </a:p>
        </p:txBody>
      </p:sp>
      <p:sp>
        <p:nvSpPr>
          <p:cNvPr id="14" name="chrome_pg"/>
          <p:cNvSpPr txBox="1"/>
          <p:nvPr/>
        </p:nvSpPr>
        <p:spPr>
          <a:xfrm>
            <a:off x="9692640" y="6565392"/>
            <a:ext cx="2194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45  /  46</a:t>
            </a:r>
          </a:p>
        </p:txBody>
      </p:sp>
      <p:sp>
        <p:nvSpPr>
          <p:cNvPr id="15" name="title_main"/>
          <p:cNvSpPr txBox="1"/>
          <p:nvPr/>
        </p:nvSpPr>
        <p:spPr>
          <a:xfrm>
            <a:off x="292608" y="877824"/>
            <a:ext cx="1133856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参考文献与进一步阅读</a:t>
            </a:r>
          </a:p>
        </p:txBody>
      </p:sp>
      <p:sp>
        <p:nvSpPr>
          <p:cNvPr id="16" name="anim_b"/>
          <p:cNvSpPr txBox="1"/>
          <p:nvPr/>
        </p:nvSpPr>
        <p:spPr>
          <a:xfrm>
            <a:off x="320040" y="16916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严蔚敏, 吴伟民. 数据结构（C 语言版）. 清华大学出版社.（教材主干）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殷人昆 等. 数据结构（用面向对象方法与 C++ 语言描述）. 清华大学出版社.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王道论坛. 数据结构考研复习指导.（复杂度与题型补充）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ISO C++. std::vector / std::list 文档. https://en.cppreference.com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Redis 文档：Sorted Set / Skip List 实现说明.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《“健康中国 2030”规划纲要》及中医药信息化相关政策文件（思政阅读）.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  <a:buFont typeface="Arial"/>
              <a:buChar char="▸"/>
            </a:pPr>
            <a:r>
              <a:rPr sz="16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南京中医药大学本科人才培养方案中信息技术与中医药交叉要求.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16" grpId="0" build="allAtOnce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rome_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chrome_topglow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hrome_left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3EC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chrome_logo" descr="njuc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777240"/>
            <a:ext cx="2361967" cy="1554480"/>
          </a:xfrm>
          <a:prstGeom prst="rect">
            <a:avLst/>
          </a:prstGeom>
        </p:spPr>
      </p:pic>
      <p:sp>
        <p:nvSpPr>
          <p:cNvPr id="6" name="anim_t"/>
          <p:cNvSpPr txBox="1"/>
          <p:nvPr/>
        </p:nvSpPr>
        <p:spPr>
          <a:xfrm>
            <a:off x="731520" y="2468880"/>
            <a:ext cx="106984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谢谢  ·  请提问</a:t>
            </a:r>
          </a:p>
        </p:txBody>
      </p:sp>
      <p:sp>
        <p:nvSpPr>
          <p:cNvPr id="7" name="anim_s"/>
          <p:cNvSpPr txBox="1"/>
          <p:nvPr/>
        </p:nvSpPr>
        <p:spPr>
          <a:xfrm>
            <a:off x="731520" y="3337560"/>
            <a:ext cx="10698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南京中医药大学  ·  数据结构  ·  第二章 线性表</a:t>
            </a:r>
          </a:p>
        </p:txBody>
      </p:sp>
      <p:sp>
        <p:nvSpPr>
          <p:cNvPr id="8" name="anim_sz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8C547"/>
                </a:solidFill>
                <a:latin typeface="微软雅黑"/>
                <a:ea typeface="微软雅黑"/>
                <a:cs typeface="微软雅黑"/>
              </a:rPr>
              <a:t>因证选方，因题选结构  ·  空指针如禁忌，不可逾越
把线性之序，写进健康中国的代码里</a:t>
            </a:r>
          </a:p>
        </p:txBody>
      </p:sp>
      <p:sp>
        <p:nvSpPr>
          <p:cNvPr id="9" name="anim_hint"/>
          <p:cNvSpPr txBox="1"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放映：F5 全屏  ·  单击逐步显示动画  ·  讲者备注见备注窗格
本课件计入课程平时成绩配套学习材料</a:t>
            </a:r>
          </a:p>
        </p:txBody>
      </p:sp>
      <p:sp>
        <p:nvSpPr>
          <p:cNvPr id="10" name="chrome_pg"/>
          <p:cNvSpPr txBox="1"/>
          <p:nvPr/>
        </p:nvSpPr>
        <p:spPr>
          <a:xfrm>
            <a:off x="10241280" y="6309360"/>
            <a:ext cx="16459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6D9"/>
                </a:solidFill>
                <a:latin typeface="微软雅黑"/>
                <a:ea typeface="微软雅黑"/>
                <a:cs typeface="微软雅黑"/>
              </a:rPr>
              <a:t>46/46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7" grpId="0" build="allAtOnce"/>
      <p:bldP spid="8" grpId="0" build="allAtOnce"/>
      <p:bldP spid="9" grpId="0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5032</Words>
  <Application>Microsoft Office PowerPoint</Application>
  <PresentationFormat>宽屏</PresentationFormat>
  <Paragraphs>871</Paragraphs>
  <Slides>46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1" baseType="lpstr"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weiyi tan</cp:lastModifiedBy>
  <cp:revision>2</cp:revision>
  <dcterms:created xsi:type="dcterms:W3CDTF">2013-01-27T09:14:16Z</dcterms:created>
  <dcterms:modified xsi:type="dcterms:W3CDTF">2026-08-21T03:14:06Z</dcterms:modified>
  <cp:category/>
</cp:coreProperties>
</file>